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0d83038f4d445d" /><Relationship Type="http://schemas.openxmlformats.org/officeDocument/2006/relationships/extended-properties" Target="/docProps/app.xml" Id="Rfe1c6aadee214511" /><Relationship Type="http://schemas.openxmlformats.org/officeDocument/2006/relationships/officeDocument" Target="/ppt/presentation.xml" Id="Rff5c028b3bf1469e" /></Relationships>
</file>

<file path=ppt/presentation.xml><?xml version="1.0" encoding="utf-8"?>
<p:presentation xmlns:p="http://schemas.openxmlformats.org/presentationml/2006/main">
  <p:sldMasterIdLst>
    <p:sldMasterId xmlns:r="http://schemas.openxmlformats.org/officeDocument/2006/relationships" id="2147483648" r:id="R9dd82f3823284c08"/>
  </p:sldMasterIdLst>
  <p:notesMasterIdLst>
    <p:notesMasterId xmlns:r="http://schemas.openxmlformats.org/officeDocument/2006/relationships" r:id="R9bca12af8aae4e2c"/>
  </p:notesMasterIdLst>
  <p:sldIdLst>
    <p:sldId xmlns:r="http://schemas.openxmlformats.org/officeDocument/2006/relationships" id="256" r:id="R8682fbc7bd994766"/>
    <p:sldId xmlns:r="http://schemas.openxmlformats.org/officeDocument/2006/relationships" id="257" r:id="R1316d4f6d3a04adf"/>
    <p:sldId xmlns:r="http://schemas.openxmlformats.org/officeDocument/2006/relationships" id="258" r:id="Rfa584c54e67b4ebe"/>
    <p:sldId xmlns:r="http://schemas.openxmlformats.org/officeDocument/2006/relationships" id="259" r:id="R2d73b576502d4533"/>
    <p:sldId xmlns:r="http://schemas.openxmlformats.org/officeDocument/2006/relationships" id="260" r:id="R1230516beb05486d"/>
    <p:sldId xmlns:r="http://schemas.openxmlformats.org/officeDocument/2006/relationships" id="261" r:id="R0860dfbba538468f"/>
    <p:sldId xmlns:r="http://schemas.openxmlformats.org/officeDocument/2006/relationships" id="262" r:id="R13814a97ea444577"/>
    <p:sldId xmlns:r="http://schemas.openxmlformats.org/officeDocument/2006/relationships" id="263" r:id="R3276d5ec15384f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0058fa4ef64b63" /><Relationship Type="http://schemas.openxmlformats.org/officeDocument/2006/relationships/slideMaster" Target="/ppt/slideMasters/slideMaster1.xml" Id="R9dd82f3823284c08" /><Relationship Type="http://schemas.openxmlformats.org/officeDocument/2006/relationships/notesMaster" Target="/ppt/notesMasters/notesMaster1.xml" Id="R9bca12af8aae4e2c" /><Relationship Type="http://schemas.openxmlformats.org/officeDocument/2006/relationships/presProps" Target="/ppt/presProps.xml" Id="R023615181c004b76" /><Relationship Type="http://schemas.openxmlformats.org/officeDocument/2006/relationships/tableStyles" Target="/ppt/tableStyles.xml" Id="R64a3961f42b245b8" /><Relationship Type="http://schemas.openxmlformats.org/officeDocument/2006/relationships/slide" Target="/ppt/slides/slide1.xml" Id="R8682fbc7bd994766" /><Relationship Type="http://schemas.openxmlformats.org/officeDocument/2006/relationships/slide" Target="/ppt/slides/slide2.xml" Id="R1316d4f6d3a04adf" /><Relationship Type="http://schemas.openxmlformats.org/officeDocument/2006/relationships/slide" Target="/ppt/slides/slide3.xml" Id="Rfa584c54e67b4ebe" /><Relationship Type="http://schemas.openxmlformats.org/officeDocument/2006/relationships/slide" Target="/ppt/slides/slide4.xml" Id="R2d73b576502d4533" /><Relationship Type="http://schemas.openxmlformats.org/officeDocument/2006/relationships/slide" Target="/ppt/slides/slide5.xml" Id="R1230516beb05486d" /><Relationship Type="http://schemas.openxmlformats.org/officeDocument/2006/relationships/slide" Target="/ppt/slides/slide6.xml" Id="R0860dfbba538468f" /><Relationship Type="http://schemas.openxmlformats.org/officeDocument/2006/relationships/slide" Target="/ppt/slides/slide7.xml" Id="R13814a97ea444577" /><Relationship Type="http://schemas.openxmlformats.org/officeDocument/2006/relationships/slide" Target="/ppt/slides/slide8.xml" Id="R3276d5ec15384f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13740dd65b40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6ce95373844a9b" /><Relationship Type="http://schemas.openxmlformats.org/officeDocument/2006/relationships/notesMaster" Target="/ppt/notesMasters/notesMaster1.xml" Id="R46fe4083e67d4f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ec7c51c40a479b" /><Relationship Type="http://schemas.openxmlformats.org/officeDocument/2006/relationships/notesMaster" Target="/ppt/notesMasters/notesMaster1.xml" Id="Rfbbb0b4e70974f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b748ba4a304d55" /><Relationship Type="http://schemas.openxmlformats.org/officeDocument/2006/relationships/notesMaster" Target="/ppt/notesMasters/notesMaster1.xml" Id="Racfeb6fe791c4e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b2dfc265e248ae" /><Relationship Type="http://schemas.openxmlformats.org/officeDocument/2006/relationships/notesMaster" Target="/ppt/notesMasters/notesMaster1.xml" Id="Rac0ab3f70aa440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2005473e0147ab" /><Relationship Type="http://schemas.openxmlformats.org/officeDocument/2006/relationships/notesMaster" Target="/ppt/notesMasters/notesMaster1.xml" Id="R0f46c66df6304a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063fd9d4c748a8" /><Relationship Type="http://schemas.openxmlformats.org/officeDocument/2006/relationships/notesMaster" Target="/ppt/notesMasters/notesMaster1.xml" Id="R8a95c598c59746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93b6322a254e35" /><Relationship Type="http://schemas.openxmlformats.org/officeDocument/2006/relationships/notesMaster" Target="/ppt/notesMasters/notesMaster1.xml" Id="Rc066969e96774b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f42eb376614f75" /><Relationship Type="http://schemas.openxmlformats.org/officeDocument/2006/relationships/notesMaster" Target="/ppt/notesMasters/notesMaster1.xml" Id="R2db0d864a3124f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 OS ist ein Entwicklungsprojekt. Der Leitgedanke beschreibt das Ziel, Android-Anwendungen und einen GNU/Linux-Userspace in einem AOSP-basierten Betriebssystem zu verbinden. Die GNU/Linux-Runtime ist noch nicht ausführbar. Die Abbildung ist ein originales, KI-generiertes Markenmotiv und zeigt keine implementierte 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genannten Abläufe sind Zielbilder für technische frühe Anwender. Es gibt keine getestete Kompatibilitätsliste für Android-Apps, Google Play, Banking-Apps oder grafische Linux-Anwendungen. Debian 13.7 ARM64 ist als unverändertes Archiv importiert und geprüft. Bash, apt und glibc sind darin vorhanden, aber noch nicht im AOSP-Gast ausgeführt.</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/Users/simeongerodetti/AegisOS/runtime/README.md</a:t>
            </a:r>
          </a:p>
          <a:p xmlns:a="http://schemas.openxmlformats.org/drawingml/2006/main">
            <a:r>
              <a:t>/Users/simeongerodetti/AegisOS/docs/phase-1-progress.md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AOSP ist die einzige Instanz für persönliche Identität, Authentifizierung, Berechtigungen und CE-Schlüsselverwaltung. GNU/Linux führt keine zweite persönliche Anmeldung ein. Die Runtime soll den Kernel des gestarteten AOSP verwenden. QEMU ist die Entwicklungsumgebung für das gesamte OS und keine zusätzliche Linux-VM innerhalb von AOSP. GNU-Prozesse benötigen eine korrekte UID/GID-Zuordnung, Namespaces, SELinux und eine an AOSP gebundene Lebenszyklusverwaltung. Diese Integration steht noch aus.</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Spezifikation verlangt persönliche und gemeinsame Paketinstallationen, inklusive explizit ausgewählter Versionen und passender Abhängigkeiten. Eine private Version soll im eigenen Kontext wirksam bleiben, auch wenn sich der gemeinsame Bestand ändert. Gemeinsame Updates müssen kontrolliert aktivieren, laufende Kontexte konsistent halten und Konflikte sichtbar melden. Sowohl user als auch all benötigen eine frische, aktionsgebundene AOSP-Adminautorisierung. Paketverwaltung und Konsistenz sind noch nicht implementiert oder im Gast nachgewiesen. Die Scope-Angaben zeigen die geplante CLI-Syntax und sind keine Produktoberfläche.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Primäre Statusquelle ist docs/phase-1-progress.md, Stand 28. September 2026. Nachgewiesen: lokaler Android-Boot mit sichtbarer Oberfläche und ADB. Ein persönlicher AOSP-Testbenutzer: falsches Passwort abgewiesen, CE-Sperre nach Benutzerstopp, Datenzugriff mit richtigem Passwort, Passwortwechsel sowie anschließende Plattformlöschung geprüft. Dies erfolgte über AOSP-Dialoge und Plattformbefehle, nicht über AEGIS. Vorbereitet: Identitäts-/CLI-Integration und Runtime-Bausteine im Quelltext, unkompiliert, nicht im Gast. Debian-Basis ist als Archiv geprüft, weder extrahiert noch ausgeführt. Paketverwaltung, Runtime-Integration und kompletter Zwei-Benutzer-Lebenszyklus sind offen. CE bezeichnet AOSPs an die Benutzeranmeldung gebundenen verschlüsselten Speicher. Das Bild ist eine unveränderte echte Bildschirmaufnahme der AOSP-Einstellungen im QEMU-Gast aus dem Lauf mouse-1. Es zeigt keine eigene Aegis-Oberfläche.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/Users/simeongerodetti/AegisOS/runtime/README.md</a:t>
            </a:r>
          </a:p>
          <a:p xmlns:a="http://schemas.openxmlformats.org/drawingml/2006/main">
            <a:r>
              <a:t>/Users/simeongerodetti/AegisOS/docs/identity-platform-test.md</a:t>
            </a:r>
          </a:p>
          <a:p xmlns:a="http://schemas.openxmlformats.org/drawingml/2006/main">
            <a:r>
              <a:t>/Users/simeongerodetti/AegisOS/docs/qemu-first-boot.md</a:t>
            </a:r>
          </a:p>
          <a:p xmlns:a="http://schemas.openxmlformats.org/drawingml/2006/main">
            <a:r>
              <a:t>/Users/simeongerodetti/AegisOS/docs/local-adb.md</a:t>
            </a:r>
          </a:p>
          <a:p xmlns:a="http://schemas.openxmlformats.org/drawingml/2006/main">
            <a:r>
              <a:t>/Users/simeongerodetti/AegisOS/out/qemu-first-boot/mouse-1/mouse-after.png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beschreibt die nächsten notwendigen Nachweise, nicht bereits verfügbare Funktionen. Der laufende Kernel hat laut Statusbericht keine User-/PID-Namespaces und kein System-V-IPC. Ein passender Kernelbuild einschließlich Modulen und anschließende Gasttests sind erforderlich. Broker, Mounts, SELinux und die vollständige AOSP-Logout-/CE-Koordination fehlen. Der Lauf muss an einen echten authentifizierten AOSP-Benutzer gebunden sein, Bash tatsächlich ausführen und persistenten persönlichen Speicher korrekt behandeln. Prozessende allein bestätigt keinen vollständigen Logout. Paketkonsistenz und gegenseitige Isolation benötigen im Anschluss den vollständigen Zwei-Benutzer-Ablauf einschließlich Fehlerfällen. Vor weiteren Builds sind zudem Erreichbarkeit des Builders und der geplante Persistenztest des Helpers zu klären.</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/Users/simeongerodetti/AegisOS/docs/architecture/phase-1-developer-brief.md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Architektur nennt Smartphone, Tablet, ARM-Notebook und Desktop als langfristige Zielgeräte. ARM64 ist das Hardwareziel, ohne unnötige Abhängigkeit von x86-64. Phase 1 entwickelt neue Funktionen zunächst per CLI. Desktop, Launcher, grafischer Login, Smartphone-Telefonie und eigene Hardware gehören nicht zur aktuellen Phase. Diese Folie verspricht weder konkrete Geräteunterstützung noch eine funktionierende geräteübergreifende Oberfläche, Synchronisation oder Continuity. Das originale, KI-generierte Markenmotiv ist ein dekorativer Hintergrund, kein Gerät und keine Produktoberfläche.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genannten Beitragsbereiche folgen aus den im Statusbericht offenen Arbeiten. Es wird kein bestehendes formales Förder-, Recruiting- oder Partnerprogramm behauptet. Der Repository-Link führt zum Entwicklungszweig codex/aosp-cloud-builder im bestätigten GitHub-Repository. Der nächste produktbezogene Beleg bleibt die echte GNU-Ausführung im integrierten AOSP-Gast, gefolgt vom vollständigen Sitzungs-, Speicher- und Paketnachweis.</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/Users/simeongerodetti/AegisOS/docs/architecture/phase-1-developer-brief.md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534d20775d42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6a9977240141ac" /><Relationship Type="http://schemas.openxmlformats.org/officeDocument/2006/relationships/slideLayout" Target="/ppt/slideLayouts/slideLayout1.xml" Id="R4172e71a6d6045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72e71a6d6045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71674f8751429b" /><Relationship Type="http://schemas.openxmlformats.org/officeDocument/2006/relationships/image" Target="/ppt/media/image.png" Id="Recfb484dd8164677" /><Relationship Type="http://schemas.openxmlformats.org/officeDocument/2006/relationships/image" Target="/ppt/media/image2.png" Id="R6b8574d06a5246d7" /><Relationship Type="http://schemas.openxmlformats.org/officeDocument/2006/relationships/notesSlide" Target="/ppt/notesSlides/notesSlide1.xml" Id="R373d099f774c49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7a4de4cb554b83" /><Relationship Type="http://schemas.openxmlformats.org/officeDocument/2006/relationships/notesSlide" Target="/ppt/notesSlides/notesSlide2.xml" Id="Rec438997682e45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fc3b455f8e4b05" /><Relationship Type="http://schemas.openxmlformats.org/officeDocument/2006/relationships/notesSlide" Target="/ppt/notesSlides/notesSlide3.xml" Id="R7d21919c540b4d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1b95ac5b4e4d27" /><Relationship Type="http://schemas.openxmlformats.org/officeDocument/2006/relationships/notesSlide" Target="/ppt/notesSlides/notesSlide4.xml" Id="R5d42723d6bf740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9fe463b338498c" /><Relationship Type="http://schemas.openxmlformats.org/officeDocument/2006/relationships/image" Target="/ppt/media/image3.png" Id="R2c59e0d28cb14e56" /><Relationship Type="http://schemas.openxmlformats.org/officeDocument/2006/relationships/notesSlide" Target="/ppt/notesSlides/notesSlide5.xml" Id="Rf5d640529b2c4b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195364f6b841b2" /><Relationship Type="http://schemas.openxmlformats.org/officeDocument/2006/relationships/notesSlide" Target="/ppt/notesSlides/notesSlide6.xml" Id="R5a6da628369244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36d97619504c4d" /><Relationship Type="http://schemas.openxmlformats.org/officeDocument/2006/relationships/image" Target="/ppt/media/image4.png" Id="Re090c6115f9343bd" /><Relationship Type="http://schemas.openxmlformats.org/officeDocument/2006/relationships/notesSlide" Target="/ppt/notesSlides/notesSlide7.xml" Id="Rb909a6e976964e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3cf3e477dc45b0" /><Relationship Type="http://schemas.openxmlformats.org/officeDocument/2006/relationships/hyperlink" Target="https://github.com/simgero/AegisOS/tree/codex/aosp-cloud-builder" TargetMode="External" Id="R0104e9a70e594ca7" /><Relationship Type="http://schemas.openxmlformats.org/officeDocument/2006/relationships/notesSlide" Target="/ppt/notesSlides/notesSlide8.xml" Id="R842f5d35a24c4b2a" /></Relationships>
</file>

<file path=ppt/slides/slide1.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cfb484dd8164677"/>
          <a:srcRect xmlns:a="http://schemas.openxmlformats.org/drawingml/2006/main" l="29677" t="0" r="2967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b8574d06a5246d7"/>
          <a:stretch xmlns:a="http://schemas.openxmlformats.org/drawingml/2006/main"/>
        </p:blipFill>
        <p:spPr>
          <a:xfrm xmlns:a="http://schemas.openxmlformats.org/drawingml/2006/main">
            <a:off x="514350" y="266700"/>
            <a:ext cx="590550"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B0E1F7C-4B41-4C9D-97F6-B71003430369}"/>
              </a:ext>
            </a:extLst>
          </p:cNvPr>
          <p:cNvSpPr>
            <a:spLocks xmlns:a="http://schemas.openxmlformats.org/drawingml/2006/main" noGrp="1"/>
          </p:cNvSpPr>
          <p:nvPr/>
        </p:nvSpPr>
        <p:spPr>
          <a:xfrm xmlns:a="http://schemas.openxmlformats.org/drawingml/2006/main">
            <a:off x="1219200" y="4286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ægis.os</a:t>
            </a:r>
          </a:p>
        </p:txBody>
      </p:sp>
      <p:sp>
        <p:nvSpPr>
          <p:cNvPr id="4" name="">
            <a:extLst xmlns:a="http://schemas.openxmlformats.org/drawingml/2006/main">
              <a:ext uri="{FF2B5EF4-FFF2-40B4-BE49-F238E27FC236}">
                <a16:creationId xmlns:a16="http://schemas.microsoft.com/office/drawing/2014/main" id="{C58682C3-02CC-421C-8C32-16E529D90ABB}"/>
              </a:ext>
            </a:extLst>
          </p:cNvPr>
          <p:cNvSpPr>
            <a:spLocks xmlns:a="http://schemas.openxmlformats.org/drawingml/2006/main" noGrp="1"/>
          </p:cNvSpPr>
          <p:nvPr/>
        </p:nvSpPr>
        <p:spPr>
          <a:xfrm xmlns:a="http://schemas.openxmlformats.org/drawingml/2006/main">
            <a:off x="609600" y="1428750"/>
            <a:ext cx="6858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Android-Apps.</a:t>
            </a:r>
          </a:p>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GNU/Linux-</a:t>
            </a:r>
          </a:p>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Werkzeuge.</a:t>
            </a:r>
          </a:p>
        </p:txBody>
      </p:sp>
      <p:sp>
        <p:nvSpPr>
          <p:cNvPr id="5" name="">
            <a:extLst xmlns:a="http://schemas.openxmlformats.org/drawingml/2006/main">
              <a:ext uri="{FF2B5EF4-FFF2-40B4-BE49-F238E27FC236}">
                <a16:creationId xmlns:a16="http://schemas.microsoft.com/office/drawing/2014/main" id="{A3024079-E472-49F6-AE74-124254D1B1B2}"/>
              </a:ext>
            </a:extLst>
          </p:cNvPr>
          <p:cNvSpPr>
            <a:spLocks xmlns:a="http://schemas.openxmlformats.org/drawingml/2006/main" noGrp="1"/>
          </p:cNvSpPr>
          <p:nvPr/>
        </p:nvSpPr>
        <p:spPr>
          <a:xfrm xmlns:a="http://schemas.openxmlformats.org/drawingml/2006/main">
            <a:off x="647700" y="4448175"/>
            <a:ext cx="628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6000"/>
              </a:lnSpc>
              <a:buNone/>
              <a:defRPr sz="2625" b="0">
                <a:solidFill>
                  <a:srgbClr val="161B22"/>
                </a:solidFill>
                <a:latin typeface="Rubik"/>
                <a:ea typeface="Rubik"/>
                <a:cs typeface="Rubik"/>
              </a:defRPr>
            </a:pPr>
            <a:r>
              <a:rPr sz="2625" b="0">
                <a:solidFill>
                  <a:srgbClr val="161B22"/>
                </a:solidFill>
                <a:latin typeface="Rubik"/>
                <a:ea typeface="Rubik"/>
                <a:cs typeface="Rubik"/>
              </a:rPr>
              <a:t>Ein Betriebssystem für</a:t>
            </a:r>
          </a:p>
          <a:p xmlns:a="http://schemas.openxmlformats.org/drawingml/2006/main">
            <a:pPr>
              <a:lnSpc>
                <a:spcPct val="106000"/>
              </a:lnSpc>
              <a:buNone/>
              <a:defRPr sz="2625" b="0">
                <a:solidFill>
                  <a:srgbClr val="161B22"/>
                </a:solidFill>
                <a:latin typeface="Rubik"/>
                <a:ea typeface="Rubik"/>
                <a:cs typeface="Rubik"/>
              </a:defRPr>
            </a:pPr>
            <a:r>
              <a:rPr sz="2625" b="0">
                <a:solidFill>
                  <a:srgbClr val="161B22"/>
                </a:solidFill>
                <a:latin typeface="Rubik"/>
                <a:ea typeface="Rubik"/>
                <a:cs typeface="Rubik"/>
              </a:rPr>
              <a:t>beide Softwarewelten.</a:t>
            </a:r>
          </a:p>
        </p:txBody>
      </p:sp>
      <p:sp>
        <p:nvSpPr>
          <p:cNvPr id="6" name="">
            <a:extLst xmlns:a="http://schemas.openxmlformats.org/drawingml/2006/main">
              <a:ext uri="{FF2B5EF4-FFF2-40B4-BE49-F238E27FC236}">
                <a16:creationId xmlns:a16="http://schemas.microsoft.com/office/drawing/2014/main" id="{49267AE9-1603-46D2-AE6C-E84AA919BB6A}"/>
              </a:ext>
            </a:extLst>
          </p:cNvPr>
          <p:cNvSpPr>
            <a:spLocks xmlns:a="http://schemas.openxmlformats.org/drawingml/2006/main" noGrp="1"/>
          </p:cNvSpPr>
          <p:nvPr/>
        </p:nvSpPr>
        <p:spPr>
          <a:xfrm xmlns:a="http://schemas.openxmlformats.org/drawingml/2006/main">
            <a:off x="647700" y="5857875"/>
            <a:ext cx="609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1">
                <a:solidFill>
                  <a:srgbClr val="161B22"/>
                </a:solidFill>
                <a:latin typeface="Rubik"/>
                <a:ea typeface="Rubik"/>
                <a:cs typeface="Rubik"/>
              </a:defRPr>
            </a:pPr>
            <a:r>
              <a:rPr sz="1425" b="1">
                <a:solidFill>
                  <a:srgbClr val="161B22"/>
                </a:solidFill>
                <a:latin typeface="Rubik"/>
                <a:ea typeface="Rubik"/>
                <a:cs typeface="Rubik"/>
              </a:rPr>
              <a:t>In Entwicklung</a:t>
            </a:r>
          </a:p>
        </p:txBody>
      </p:sp>
      <p:sp>
        <p:nvSpPr>
          <p:cNvPr id="7" name="">
            <a:extLst xmlns:a="http://schemas.openxmlformats.org/drawingml/2006/main">
              <a:ext uri="{FF2B5EF4-FFF2-40B4-BE49-F238E27FC236}">
                <a16:creationId xmlns:a16="http://schemas.microsoft.com/office/drawing/2014/main" id="{1460A4F4-33C7-4758-A50B-2E2227AD942B}"/>
              </a:ext>
            </a:extLst>
          </p:cNvPr>
          <p:cNvSpPr>
            <a:spLocks xmlns:a="http://schemas.openxmlformats.org/drawingml/2006/main" noGrp="1"/>
          </p:cNvSpPr>
          <p:nvPr/>
        </p:nvSpPr>
        <p:spPr>
          <a:xfrm xmlns:a="http://schemas.openxmlformats.org/drawingml/2006/main">
            <a:off x="647700" y="617220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8616A"/>
                </a:solidFill>
                <a:latin typeface="Rubik"/>
                <a:ea typeface="Rubik"/>
                <a:cs typeface="Rubik"/>
              </a:defRPr>
            </a:pPr>
            <a:r>
              <a:rPr sz="1350" b="0">
                <a:solidFill>
                  <a:srgbClr val="58616A"/>
                </a:solidFill>
                <a:latin typeface="Rubik"/>
                <a:ea typeface="Rubik"/>
                <a:cs typeface="Rubik"/>
              </a:rPr>
              <a:t>Projektstand 28. September 2026</a:t>
            </a:r>
          </a:p>
        </p:txBody>
      </p:sp>
    </p:spTree>
    <p:extLst>
      <p:ext uri="{BB962C8B-B14F-4D97-AF65-F5344CB8AC3E}">
        <p14:creationId xmlns:p14="http://schemas.microsoft.com/office/powerpoint/2010/main" val="865703637"/>
      </p:ext>
    </p:extLst>
  </p:cSld>
</p:sld>
</file>

<file path=ppt/slides/slide2.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D7E920-4DC5-4A9F-9EDF-06A601345002}"/>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ægis.os</a:t>
            </a:r>
          </a:p>
        </p:txBody>
      </p:sp>
      <p:sp>
        <p:nvSpPr>
          <p:cNvPr id="2" name="">
            <a:extLst xmlns:a="http://schemas.openxmlformats.org/drawingml/2006/main">
              <a:ext uri="{FF2B5EF4-FFF2-40B4-BE49-F238E27FC236}">
                <a16:creationId xmlns:a16="http://schemas.microsoft.com/office/drawing/2014/main" id="{435ED987-39A5-4295-AC3A-272C6E9C2062}"/>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Geplanter Einsatz</a:t>
            </a:r>
          </a:p>
        </p:txBody>
      </p:sp>
      <p:sp>
        <p:nvSpPr>
          <p:cNvPr id="3" name="">
            <a:extLst xmlns:a="http://schemas.openxmlformats.org/drawingml/2006/main">
              <a:ext uri="{FF2B5EF4-FFF2-40B4-BE49-F238E27FC236}">
                <a16:creationId xmlns:a16="http://schemas.microsoft.com/office/drawing/2014/main" id="{3064C05B-7B96-4C4E-8B7A-D766343DB064}"/>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02</a:t>
            </a:r>
          </a:p>
        </p:txBody>
      </p:sp>
      <p:sp>
        <p:nvSpPr>
          <p:cNvPr id="4" name="">
            <a:extLst xmlns:a="http://schemas.openxmlformats.org/drawingml/2006/main">
              <a:ext uri="{FF2B5EF4-FFF2-40B4-BE49-F238E27FC236}">
                <a16:creationId xmlns:a16="http://schemas.microsoft.com/office/drawing/2014/main" id="{2F0A4443-2C29-406B-BB77-9A0CE5CA305A}"/>
              </a:ext>
            </a:extLst>
          </p:cNvPr>
          <p:cNvSpPr>
            <a:spLocks xmlns:a="http://schemas.openxmlformats.org/drawingml/2006/main" noGrp="1"/>
          </p:cNvSpPr>
          <p:nvPr/>
        </p:nvSpPr>
        <p:spPr>
          <a:xfrm xmlns:a="http://schemas.openxmlformats.org/drawingml/2006/main">
            <a:off x="609600" y="120015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2000"/>
              </a:lnSpc>
              <a:buNone/>
              <a:defRPr sz="4200" b="1">
                <a:solidFill>
                  <a:srgbClr val="161B22"/>
                </a:solidFill>
                <a:latin typeface="Rubik"/>
                <a:ea typeface="Rubik"/>
                <a:cs typeface="Rubik"/>
              </a:defRPr>
            </a:pPr>
            <a:r>
              <a:rPr sz="4200" b="1">
                <a:solidFill>
                  <a:srgbClr val="161B22"/>
                </a:solidFill>
                <a:latin typeface="Rubik"/>
                <a:ea typeface="Rubik"/>
                <a:cs typeface="Rubik"/>
              </a:rPr>
              <a:t>Android im Alltag</a:t>
            </a:r>
          </a:p>
          <a:p xmlns:a="http://schemas.openxmlformats.org/drawingml/2006/main">
            <a:pPr>
              <a:lnSpc>
                <a:spcPct val="102000"/>
              </a:lnSpc>
              <a:buNone/>
              <a:defRPr sz="4200" b="1">
                <a:solidFill>
                  <a:srgbClr val="161B22"/>
                </a:solidFill>
                <a:latin typeface="Rubik"/>
                <a:ea typeface="Rubik"/>
                <a:cs typeface="Rubik"/>
              </a:defRPr>
            </a:pPr>
            <a:r>
              <a:rPr sz="4200" b="1">
                <a:solidFill>
                  <a:srgbClr val="161B22"/>
                </a:solidFill>
                <a:latin typeface="Rubik"/>
                <a:ea typeface="Rubik"/>
                <a:cs typeface="Rubik"/>
              </a:rPr>
              <a:t>GNU/Linux bei der Arbeit</a:t>
            </a:r>
          </a:p>
        </p:txBody>
      </p:sp>
      <p:sp>
        <p:nvSpPr>
          <p:cNvPr id="5" name="">
            <a:extLst xmlns:a="http://schemas.openxmlformats.org/drawingml/2006/main">
              <a:ext uri="{FF2B5EF4-FFF2-40B4-BE49-F238E27FC236}">
                <a16:creationId xmlns:a16="http://schemas.microsoft.com/office/drawing/2014/main" id="{7EE9E657-FF60-433F-BD4C-9536E4BD8DC9}"/>
              </a:ext>
            </a:extLst>
          </p:cNvPr>
          <p:cNvSpPr>
            <a:spLocks xmlns:a="http://schemas.openxmlformats.org/drawingml/2006/main" noGrp="1"/>
          </p:cNvSpPr>
          <p:nvPr/>
        </p:nvSpPr>
        <p:spPr>
          <a:xfrm xmlns:a="http://schemas.openxmlformats.org/drawingml/2006/main">
            <a:off x="647700" y="324802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1">
                <a:solidFill>
                  <a:srgbClr val="161B22"/>
                </a:solidFill>
                <a:latin typeface="Rubik"/>
                <a:ea typeface="Rubik"/>
                <a:cs typeface="Rubik"/>
              </a:defRPr>
            </a:pPr>
            <a:r>
              <a:rPr sz="2850" b="1">
                <a:solidFill>
                  <a:srgbClr val="161B22"/>
                </a:solidFill>
                <a:latin typeface="Rubik"/>
                <a:ea typeface="Rubik"/>
                <a:cs typeface="Rubik"/>
              </a:rPr>
              <a:t>Android-Apps</a:t>
            </a:r>
          </a:p>
        </p:txBody>
      </p:sp>
      <p:sp>
        <p:nvSpPr>
          <p:cNvPr id="6" name="">
            <a:extLst xmlns:a="http://schemas.openxmlformats.org/drawingml/2006/main">
              <a:ext uri="{FF2B5EF4-FFF2-40B4-BE49-F238E27FC236}">
                <a16:creationId xmlns:a16="http://schemas.microsoft.com/office/drawing/2014/main" id="{104F44B7-20D3-4C42-B127-6477D8F2FB86}"/>
              </a:ext>
            </a:extLst>
          </p:cNvPr>
          <p:cNvSpPr>
            <a:spLocks xmlns:a="http://schemas.openxmlformats.org/drawingml/2006/main" noGrp="1"/>
          </p:cNvSpPr>
          <p:nvPr/>
        </p:nvSpPr>
        <p:spPr>
          <a:xfrm xmlns:a="http://schemas.openxmlformats.org/drawingml/2006/main">
            <a:off x="647700" y="3990975"/>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Kommunikation, Web und Medien</a:t>
            </a:r>
          </a:p>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mit vertrauten mobilen Anwendungen.</a:t>
            </a:r>
          </a:p>
        </p:txBody>
      </p:sp>
      <p:sp>
        <p:nvSpPr>
          <p:cNvPr id="7" name="">
            <a:extLst xmlns:a="http://schemas.openxmlformats.org/drawingml/2006/main">
              <a:ext uri="{FF2B5EF4-FFF2-40B4-BE49-F238E27FC236}">
                <a16:creationId xmlns:a16="http://schemas.microsoft.com/office/drawing/2014/main" id="{EB988CAF-D690-4093-B929-436539ED2477}"/>
              </a:ext>
            </a:extLst>
          </p:cNvPr>
          <p:cNvSpPr>
            <a:spLocks xmlns:a="http://schemas.openxmlformats.org/drawingml/2006/main" noGrp="1"/>
          </p:cNvSpPr>
          <p:nvPr/>
        </p:nvSpPr>
        <p:spPr>
          <a:xfrm xmlns:a="http://schemas.openxmlformats.org/drawingml/2006/main">
            <a:off x="5695950" y="3514725"/>
            <a:ext cx="685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5175" b="0">
                <a:solidFill>
                  <a:srgbClr val="58616A"/>
                </a:solidFill>
                <a:latin typeface="Rubik"/>
                <a:ea typeface="Rubik"/>
                <a:cs typeface="Rubik"/>
              </a:defRPr>
            </a:pPr>
            <a:r>
              <a:rPr sz="5175" b="0">
                <a:solidFill>
                  <a:srgbClr val="58616A"/>
                </a:solidFill>
                <a:latin typeface="Rubik"/>
                <a:ea typeface="Rubik"/>
                <a:cs typeface="Rubik"/>
              </a:rPr>
              <a:t>+</a:t>
            </a:r>
          </a:p>
        </p:txBody>
      </p:sp>
      <p:sp>
        <p:nvSpPr>
          <p:cNvPr id="8" name="">
            <a:extLst xmlns:a="http://schemas.openxmlformats.org/drawingml/2006/main">
              <a:ext uri="{FF2B5EF4-FFF2-40B4-BE49-F238E27FC236}">
                <a16:creationId xmlns:a16="http://schemas.microsoft.com/office/drawing/2014/main" id="{CF15BD36-71CE-4F9B-BAE9-6E008DF36387}"/>
              </a:ext>
            </a:extLst>
          </p:cNvPr>
          <p:cNvSpPr>
            <a:spLocks xmlns:a="http://schemas.openxmlformats.org/drawingml/2006/main" noGrp="1"/>
          </p:cNvSpPr>
          <p:nvPr/>
        </p:nvSpPr>
        <p:spPr>
          <a:xfrm xmlns:a="http://schemas.openxmlformats.org/drawingml/2006/main">
            <a:off x="6819900" y="324802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1">
                <a:solidFill>
                  <a:srgbClr val="161B22"/>
                </a:solidFill>
                <a:latin typeface="Rubik"/>
                <a:ea typeface="Rubik"/>
                <a:cs typeface="Rubik"/>
              </a:defRPr>
            </a:pPr>
            <a:r>
              <a:rPr sz="2850" b="1">
                <a:solidFill>
                  <a:srgbClr val="161B22"/>
                </a:solidFill>
                <a:latin typeface="Rubik"/>
                <a:ea typeface="Rubik"/>
                <a:cs typeface="Rubik"/>
              </a:rPr>
              <a:t>Bash, apt und glibc</a:t>
            </a:r>
          </a:p>
        </p:txBody>
      </p:sp>
      <p:sp>
        <p:nvSpPr>
          <p:cNvPr id="9" name="">
            <a:extLst xmlns:a="http://schemas.openxmlformats.org/drawingml/2006/main">
              <a:ext uri="{FF2B5EF4-FFF2-40B4-BE49-F238E27FC236}">
                <a16:creationId xmlns:a16="http://schemas.microsoft.com/office/drawing/2014/main" id="{A808EF97-CA09-4EED-8508-EFE4F14D7D16}"/>
              </a:ext>
            </a:extLst>
          </p:cNvPr>
          <p:cNvSpPr>
            <a:spLocks xmlns:a="http://schemas.openxmlformats.org/drawingml/2006/main" noGrp="1"/>
          </p:cNvSpPr>
          <p:nvPr/>
        </p:nvSpPr>
        <p:spPr>
          <a:xfrm xmlns:a="http://schemas.openxmlformats.org/drawingml/2006/main">
            <a:off x="6819900" y="399097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Skripte ausführen und GNU-Werkzeuge</a:t>
            </a:r>
          </a:p>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aus einer Debian-Basis nutzen.</a:t>
            </a:r>
          </a:p>
        </p:txBody>
      </p:sp>
      <p:sp>
        <p:nvSpPr>
          <p:cNvPr id="10" name="">
            <a:extLst xmlns:a="http://schemas.openxmlformats.org/drawingml/2006/main">
              <a:ext uri="{FF2B5EF4-FFF2-40B4-BE49-F238E27FC236}">
                <a16:creationId xmlns:a16="http://schemas.microsoft.com/office/drawing/2014/main" id="{8B30F540-4500-466A-BC62-5E42AA99862E}"/>
              </a:ext>
            </a:extLst>
          </p:cNvPr>
          <p:cNvSpPr>
            <a:spLocks xmlns:a="http://schemas.openxmlformats.org/drawingml/2006/main" noGrp="1"/>
          </p:cNvSpPr>
          <p:nvPr/>
        </p:nvSpPr>
        <p:spPr>
          <a:xfrm xmlns:a="http://schemas.openxmlformats.org/drawingml/2006/main">
            <a:off x="647700" y="54864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61B22"/>
                </a:solidFill>
                <a:latin typeface="Rubik"/>
                <a:ea typeface="Rubik"/>
                <a:cs typeface="Rubik"/>
              </a:defRPr>
            </a:pPr>
            <a:r>
              <a:rPr sz="2250" b="0">
                <a:solidFill>
                  <a:srgbClr val="161B22"/>
                </a:solidFill>
                <a:latin typeface="Rubik"/>
                <a:ea typeface="Rubik"/>
                <a:cs typeface="Rubik"/>
              </a:rPr>
              <a:t>Ziel: beide Softwarewelten auf demselben Gerät nutzen.</a:t>
            </a:r>
          </a:p>
        </p:txBody>
      </p:sp>
      <p:sp>
        <p:nvSpPr>
          <p:cNvPr id="11" name="">
            <a:extLst xmlns:a="http://schemas.openxmlformats.org/drawingml/2006/main">
              <a:ext uri="{FF2B5EF4-FFF2-40B4-BE49-F238E27FC236}">
                <a16:creationId xmlns:a16="http://schemas.microsoft.com/office/drawing/2014/main" id="{4AE4708E-109C-4A78-82CF-F8F2516C89D8}"/>
              </a:ext>
            </a:extLst>
          </p:cNvPr>
          <p:cNvSpPr>
            <a:spLocks xmlns:a="http://schemas.openxmlformats.org/drawingml/2006/main" noGrp="1"/>
          </p:cNvSpPr>
          <p:nvPr/>
        </p:nvSpPr>
        <p:spPr>
          <a:xfrm xmlns:a="http://schemas.openxmlformats.org/drawingml/2006/main">
            <a:off x="647700" y="60769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Diese Beispiele sind geplant. Konkrete App-Kompatibilität ist noch nicht nachgewiesen.</a:t>
            </a:r>
          </a:p>
        </p:txBody>
      </p:sp>
    </p:spTree>
    <p:extLst>
      <p:ext uri="{BB962C8B-B14F-4D97-AF65-F5344CB8AC3E}">
        <p14:creationId xmlns:p14="http://schemas.microsoft.com/office/powerpoint/2010/main" val="1866459269"/>
      </p:ext>
    </p:extLst>
  </p:cSld>
</p:sld>
</file>

<file path=ppt/slides/slide3.xml><?xml version="1.0" encoding="utf-8"?>
<p:sld xmlns:p="http://schemas.openxmlformats.org/presentationml/2006/main">
  <p:cSld>
    <p:bg>
      <p:bgPr>
        <a:solidFill xmlns:a="http://schemas.openxmlformats.org/drawingml/2006/main">
          <a:srgbClr val="16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3AC248-62FC-4237-AFBC-559D352CE16D}"/>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F6F7F9"/>
                </a:solidFill>
                <a:latin typeface="Rubik"/>
                <a:ea typeface="Rubik"/>
                <a:cs typeface="Rubik"/>
              </a:defRPr>
            </a:pPr>
            <a:r>
              <a:rPr sz="1575" b="1">
                <a:solidFill>
                  <a:srgbClr val="F6F7F9"/>
                </a:solidFill>
                <a:latin typeface="Rubik"/>
                <a:ea typeface="Rubik"/>
                <a:cs typeface="Rubik"/>
              </a:rPr>
              <a:t>ægis.os</a:t>
            </a:r>
          </a:p>
        </p:txBody>
      </p:sp>
      <p:sp>
        <p:nvSpPr>
          <p:cNvPr id="2" name="">
            <a:extLst xmlns:a="http://schemas.openxmlformats.org/drawingml/2006/main">
              <a:ext uri="{FF2B5EF4-FFF2-40B4-BE49-F238E27FC236}">
                <a16:creationId xmlns:a16="http://schemas.microsoft.com/office/drawing/2014/main" id="{019C3D7B-BA3D-4122-9982-3ED91DCE47B1}"/>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Geplante Architektur</a:t>
            </a:r>
          </a:p>
        </p:txBody>
      </p:sp>
      <p:sp>
        <p:nvSpPr>
          <p:cNvPr id="3" name="">
            <a:extLst xmlns:a="http://schemas.openxmlformats.org/drawingml/2006/main">
              <a:ext uri="{FF2B5EF4-FFF2-40B4-BE49-F238E27FC236}">
                <a16:creationId xmlns:a16="http://schemas.microsoft.com/office/drawing/2014/main" id="{8DF24DBA-CEC2-4133-9A88-C580601FF094}"/>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03</a:t>
            </a:r>
          </a:p>
        </p:txBody>
      </p:sp>
      <p:sp>
        <p:nvSpPr>
          <p:cNvPr id="4" name="">
            <a:extLst xmlns:a="http://schemas.openxmlformats.org/drawingml/2006/main">
              <a:ext uri="{FF2B5EF4-FFF2-40B4-BE49-F238E27FC236}">
                <a16:creationId xmlns:a16="http://schemas.microsoft.com/office/drawing/2014/main" id="{04811366-0D20-4A7A-A1EC-ED25D7C26994}"/>
              </a:ext>
            </a:extLst>
          </p:cNvPr>
          <p:cNvSpPr>
            <a:spLocks xmlns:a="http://schemas.openxmlformats.org/drawingml/2006/main" noGrp="1"/>
          </p:cNvSpPr>
          <p:nvPr/>
        </p:nvSpPr>
        <p:spPr>
          <a:xfrm xmlns:a="http://schemas.openxmlformats.org/drawingml/2006/main">
            <a:off x="609600" y="1123950"/>
            <a:ext cx="109728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500" b="1">
                <a:solidFill>
                  <a:srgbClr val="F6F7F9"/>
                </a:solidFill>
                <a:latin typeface="Rubik"/>
                <a:ea typeface="Rubik"/>
                <a:cs typeface="Rubik"/>
              </a:defRPr>
            </a:pPr>
            <a:r>
              <a:rPr sz="4500" b="1">
                <a:solidFill>
                  <a:srgbClr val="F6F7F9"/>
                </a:solidFill>
                <a:latin typeface="Rubik"/>
                <a:ea typeface="Rubik"/>
                <a:cs typeface="Rubik"/>
              </a:rPr>
              <a:t>Ein Betriebssystem</a:t>
            </a:r>
          </a:p>
          <a:p xmlns:a="http://schemas.openxmlformats.org/drawingml/2006/main">
            <a:pPr>
              <a:lnSpc>
                <a:spcPct val="100000"/>
              </a:lnSpc>
              <a:buNone/>
              <a:defRPr sz="4500" b="1">
                <a:solidFill>
                  <a:srgbClr val="F6F7F9"/>
                </a:solidFill>
                <a:latin typeface="Rubik"/>
                <a:ea typeface="Rubik"/>
                <a:cs typeface="Rubik"/>
              </a:defRPr>
            </a:pPr>
            <a:r>
              <a:rPr sz="4500" b="1">
                <a:solidFill>
                  <a:srgbClr val="F6F7F9"/>
                </a:solidFill>
                <a:latin typeface="Rubik"/>
                <a:ea typeface="Rubik"/>
                <a:cs typeface="Rubik"/>
              </a:rPr>
              <a:t>Ein gemeinsamer Kernel</a:t>
            </a:r>
          </a:p>
        </p:txBody>
      </p:sp>
      <p:sp>
        <p:nvSpPr>
          <p:cNvPr id="5" name="">
            <a:extLst xmlns:a="http://schemas.openxmlformats.org/drawingml/2006/main">
              <a:ext uri="{FF2B5EF4-FFF2-40B4-BE49-F238E27FC236}">
                <a16:creationId xmlns:a16="http://schemas.microsoft.com/office/drawing/2014/main" id="{F4E02419-BC6C-463B-B844-7C5C09012A4E}"/>
              </a:ext>
            </a:extLst>
          </p:cNvPr>
          <p:cNvSpPr>
            <a:spLocks xmlns:a="http://schemas.openxmlformats.org/drawingml/2006/main" noGrp="1"/>
          </p:cNvSpPr>
          <p:nvPr/>
        </p:nvSpPr>
        <p:spPr>
          <a:xfrm xmlns:a="http://schemas.openxmlformats.org/drawingml/2006/main">
            <a:off x="647700" y="3019425"/>
            <a:ext cx="4695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F6F7F9"/>
                </a:solidFill>
                <a:latin typeface="Rubik"/>
                <a:ea typeface="Rubik"/>
                <a:cs typeface="Rubik"/>
              </a:defRPr>
            </a:pPr>
            <a:r>
              <a:rPr sz="3225" b="1">
                <a:solidFill>
                  <a:srgbClr val="F6F7F9"/>
                </a:solidFill>
                <a:latin typeface="Rubik"/>
                <a:ea typeface="Rubik"/>
                <a:cs typeface="Rubik"/>
              </a:rPr>
              <a:t>Android</a:t>
            </a:r>
          </a:p>
        </p:txBody>
      </p:sp>
      <p:sp>
        <p:nvSpPr>
          <p:cNvPr id="6" name="">
            <a:extLst xmlns:a="http://schemas.openxmlformats.org/drawingml/2006/main">
              <a:ext uri="{FF2B5EF4-FFF2-40B4-BE49-F238E27FC236}">
                <a16:creationId xmlns:a16="http://schemas.microsoft.com/office/drawing/2014/main" id="{234B608B-E914-4545-BE7C-181EEB170B30}"/>
              </a:ext>
            </a:extLst>
          </p:cNvPr>
          <p:cNvSpPr>
            <a:spLocks xmlns:a="http://schemas.openxmlformats.org/drawingml/2006/main" noGrp="1"/>
          </p:cNvSpPr>
          <p:nvPr/>
        </p:nvSpPr>
        <p:spPr>
          <a:xfrm xmlns:a="http://schemas.openxmlformats.org/drawingml/2006/main">
            <a:off x="647700" y="37052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9C1C9"/>
                </a:solidFill>
                <a:latin typeface="Rubik"/>
                <a:ea typeface="Rubik"/>
                <a:cs typeface="Rubik"/>
              </a:defRPr>
            </a:pPr>
            <a:r>
              <a:rPr sz="2025" b="0">
                <a:solidFill>
                  <a:srgbClr val="B9C1C9"/>
                </a:solidFill>
                <a:latin typeface="Rubik"/>
                <a:ea typeface="Rubik"/>
                <a:cs typeface="Rubik"/>
              </a:rPr>
              <a:t>Apps und Android-Framework</a:t>
            </a:r>
          </a:p>
        </p:txBody>
      </p:sp>
      <p:sp>
        <p:nvSpPr>
          <p:cNvPr id="7" name="">
            <a:extLst xmlns:a="http://schemas.openxmlformats.org/drawingml/2006/main">
              <a:ext uri="{FF2B5EF4-FFF2-40B4-BE49-F238E27FC236}">
                <a16:creationId xmlns:a16="http://schemas.microsoft.com/office/drawing/2014/main" id="{7B8A44D5-C50E-4581-8272-E51A2878B6C6}"/>
              </a:ext>
            </a:extLst>
          </p:cNvPr>
          <p:cNvSpPr>
            <a:spLocks xmlns:a="http://schemas.openxmlformats.org/drawingml/2006/main" noGrp="1"/>
          </p:cNvSpPr>
          <p:nvPr/>
        </p:nvSpPr>
        <p:spPr>
          <a:xfrm xmlns:a="http://schemas.openxmlformats.org/drawingml/2006/main">
            <a:off x="6696075" y="3019425"/>
            <a:ext cx="48863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F6F7F9"/>
                </a:solidFill>
                <a:latin typeface="Rubik"/>
                <a:ea typeface="Rubik"/>
                <a:cs typeface="Rubik"/>
              </a:defRPr>
            </a:pPr>
            <a:r>
              <a:rPr sz="3225" b="1">
                <a:solidFill>
                  <a:srgbClr val="F6F7F9"/>
                </a:solidFill>
                <a:latin typeface="Rubik"/>
                <a:ea typeface="Rubik"/>
                <a:cs typeface="Rubik"/>
              </a:rPr>
              <a:t>GNU/Linux</a:t>
            </a:r>
          </a:p>
        </p:txBody>
      </p:sp>
      <p:sp>
        <p:nvSpPr>
          <p:cNvPr id="8" name="">
            <a:extLst xmlns:a="http://schemas.openxmlformats.org/drawingml/2006/main">
              <a:ext uri="{FF2B5EF4-FFF2-40B4-BE49-F238E27FC236}">
                <a16:creationId xmlns:a16="http://schemas.microsoft.com/office/drawing/2014/main" id="{A75C447A-5EF2-48A0-A98F-2C668B449F28}"/>
              </a:ext>
            </a:extLst>
          </p:cNvPr>
          <p:cNvSpPr>
            <a:spLocks xmlns:a="http://schemas.openxmlformats.org/drawingml/2006/main" noGrp="1"/>
          </p:cNvSpPr>
          <p:nvPr/>
        </p:nvSpPr>
        <p:spPr>
          <a:xfrm xmlns:a="http://schemas.openxmlformats.org/drawingml/2006/main">
            <a:off x="6696075" y="3705225"/>
            <a:ext cx="4886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B9C1C9"/>
                </a:solidFill>
                <a:latin typeface="Rubik"/>
                <a:ea typeface="Rubik"/>
                <a:cs typeface="Rubik"/>
              </a:defRPr>
            </a:pPr>
            <a:r>
              <a:rPr sz="1950" b="0">
                <a:solidFill>
                  <a:srgbClr val="B9C1C9"/>
                </a:solidFill>
                <a:latin typeface="Rubik"/>
                <a:ea typeface="Rubik"/>
                <a:cs typeface="Rubik"/>
              </a:rPr>
              <a:t>Debian-Userspace in isolierten Kontexten</a:t>
            </a:r>
          </a:p>
        </p:txBody>
      </p:sp>
      <p:sp>
        <p:nvSpPr>
          <p:cNvPr id="9" name="">
            <a:extLst xmlns:a="http://schemas.openxmlformats.org/drawingml/2006/main">
              <a:ext uri="{FF2B5EF4-FFF2-40B4-BE49-F238E27FC236}">
                <a16:creationId xmlns:a16="http://schemas.microsoft.com/office/drawing/2014/main" id="{DE9BED91-BF79-4C5C-B580-D6C1FDF38E10}"/>
              </a:ext>
            </a:extLst>
          </p:cNvPr>
          <p:cNvSpPr>
            <a:spLocks xmlns:a="http://schemas.openxmlformats.org/drawingml/2006/main" noGrp="1"/>
          </p:cNvSpPr>
          <p:nvPr/>
        </p:nvSpPr>
        <p:spPr>
          <a:xfrm xmlns:a="http://schemas.openxmlformats.org/drawingml/2006/main">
            <a:off x="647700" y="4638675"/>
            <a:ext cx="10801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6F7F9"/>
                </a:solidFill>
                <a:latin typeface="Rubik"/>
                <a:ea typeface="Rubik"/>
                <a:cs typeface="Rubik"/>
              </a:defRPr>
            </a:pPr>
            <a:r>
              <a:rPr sz="2250" b="0">
                <a:solidFill>
                  <a:srgbClr val="F6F7F9"/>
                </a:solidFill>
                <a:latin typeface="Rubik"/>
                <a:ea typeface="Rubik"/>
                <a:cs typeface="Rubik"/>
              </a:rPr>
              <a:t>AOSP verwaltet Anmeldung, Rechte und persönlichen Speicher.</a:t>
            </a:r>
          </a:p>
        </p:txBody>
      </p:sp>
      <p:sp>
        <p:nvSpPr>
          <p:cNvPr id="10" name="">
            <a:extLst xmlns:a="http://schemas.openxmlformats.org/drawingml/2006/main">
              <a:ext uri="{FF2B5EF4-FFF2-40B4-BE49-F238E27FC236}">
                <a16:creationId xmlns:a16="http://schemas.microsoft.com/office/drawing/2014/main" id="{5C331CF8-A337-47D3-BB41-1A9AE256FB33}"/>
              </a:ext>
            </a:extLst>
          </p:cNvPr>
          <p:cNvSpPr>
            <a:spLocks xmlns:a="http://schemas.openxmlformats.org/drawingml/2006/main" noGrp="1"/>
          </p:cNvSpPr>
          <p:nvPr/>
        </p:nvSpPr>
        <p:spPr>
          <a:xfrm xmlns:a="http://schemas.openxmlformats.org/drawingml/2006/main">
            <a:off x="647700" y="5276850"/>
            <a:ext cx="7810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75" b="1">
                <a:solidFill>
                  <a:srgbClr val="C4F15A"/>
                </a:solidFill>
                <a:latin typeface="Rubik"/>
                <a:ea typeface="Rubik"/>
                <a:cs typeface="Rubik"/>
              </a:defRPr>
            </a:pPr>
            <a:r>
              <a:rPr sz="4275" b="1">
                <a:solidFill>
                  <a:srgbClr val="C4F15A"/>
                </a:solidFill>
                <a:latin typeface="Rubik"/>
                <a:ea typeface="Rubik"/>
                <a:cs typeface="Rubik"/>
              </a:rPr>
              <a:t>Linux-Kernel</a:t>
            </a:r>
          </a:p>
        </p:txBody>
      </p:sp>
      <p:sp>
        <p:nvSpPr>
          <p:cNvPr id="11" name="">
            <a:extLst xmlns:a="http://schemas.openxmlformats.org/drawingml/2006/main">
              <a:ext uri="{FF2B5EF4-FFF2-40B4-BE49-F238E27FC236}">
                <a16:creationId xmlns:a16="http://schemas.microsoft.com/office/drawing/2014/main" id="{60A49742-65E3-42A8-B128-556CEFC87D08}"/>
              </a:ext>
            </a:extLst>
          </p:cNvPr>
          <p:cNvSpPr>
            <a:spLocks xmlns:a="http://schemas.openxmlformats.org/drawingml/2006/main" noGrp="1"/>
          </p:cNvSpPr>
          <p:nvPr/>
        </p:nvSpPr>
        <p:spPr>
          <a:xfrm xmlns:a="http://schemas.openxmlformats.org/drawingml/2006/main">
            <a:off x="647700" y="61531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B9C1C9"/>
                </a:solidFill>
                <a:latin typeface="Rubik"/>
                <a:ea typeface="Rubik"/>
                <a:cs typeface="Rubik"/>
              </a:defRPr>
            </a:pPr>
            <a:r>
              <a:rPr sz="1500" b="0">
                <a:solidFill>
                  <a:srgbClr val="B9C1C9"/>
                </a:solidFill>
                <a:latin typeface="Rubik"/>
                <a:ea typeface="Rubik"/>
                <a:cs typeface="Rubik"/>
              </a:rPr>
              <a:t>Die GNU-Runtime nutzt den AOSP-Kernel. Eine zusätzliche Linux-VM ist nicht vorgesehen.</a:t>
            </a:r>
          </a:p>
        </p:txBody>
      </p:sp>
    </p:spTree>
    <p:extLst>
      <p:ext uri="{BB962C8B-B14F-4D97-AF65-F5344CB8AC3E}">
        <p14:creationId xmlns:p14="http://schemas.microsoft.com/office/powerpoint/2010/main" val="1778502764"/>
      </p:ext>
    </p:extLst>
  </p:cSld>
</p:sld>
</file>

<file path=ppt/slides/slide4.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70E2BB-FB95-48DE-90ED-0CAF42D9B873}"/>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ægis.os</a:t>
            </a:r>
          </a:p>
        </p:txBody>
      </p:sp>
      <p:sp>
        <p:nvSpPr>
          <p:cNvPr id="2" name="">
            <a:extLst xmlns:a="http://schemas.openxmlformats.org/drawingml/2006/main">
              <a:ext uri="{FF2B5EF4-FFF2-40B4-BE49-F238E27FC236}">
                <a16:creationId xmlns:a16="http://schemas.microsoft.com/office/drawing/2014/main" id="{93EB8CCA-69B4-4731-9A80-6C75B7F686BB}"/>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Geplante Paketverwaltung</a:t>
            </a:r>
          </a:p>
        </p:txBody>
      </p:sp>
      <p:sp>
        <p:nvSpPr>
          <p:cNvPr id="3" name="">
            <a:extLst xmlns:a="http://schemas.openxmlformats.org/drawingml/2006/main">
              <a:ext uri="{FF2B5EF4-FFF2-40B4-BE49-F238E27FC236}">
                <a16:creationId xmlns:a16="http://schemas.microsoft.com/office/drawing/2014/main" id="{93CFEB3B-D43C-4756-8DA3-96B74BFFFA01}"/>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04</a:t>
            </a:r>
          </a:p>
        </p:txBody>
      </p:sp>
      <p:sp>
        <p:nvSpPr>
          <p:cNvPr id="4" name="">
            <a:extLst xmlns:a="http://schemas.openxmlformats.org/drawingml/2006/main">
              <a:ext uri="{FF2B5EF4-FFF2-40B4-BE49-F238E27FC236}">
                <a16:creationId xmlns:a16="http://schemas.microsoft.com/office/drawing/2014/main" id="{59EE3EB2-8714-4DE9-9269-EF43024FD608}"/>
              </a:ext>
            </a:extLst>
          </p:cNvPr>
          <p:cNvSpPr>
            <a:spLocks xmlns:a="http://schemas.openxmlformats.org/drawingml/2006/main" noGrp="1"/>
          </p:cNvSpPr>
          <p:nvPr/>
        </p:nvSpPr>
        <p:spPr>
          <a:xfrm xmlns:a="http://schemas.openxmlformats.org/drawingml/2006/main">
            <a:off x="609600" y="1162050"/>
            <a:ext cx="109728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275" b="1">
                <a:solidFill>
                  <a:srgbClr val="161B22"/>
                </a:solidFill>
                <a:latin typeface="Rubik"/>
                <a:ea typeface="Rubik"/>
                <a:cs typeface="Rubik"/>
              </a:defRPr>
            </a:pPr>
            <a:r>
              <a:rPr sz="4275" b="1">
                <a:solidFill>
                  <a:srgbClr val="161B22"/>
                </a:solidFill>
                <a:latin typeface="Rubik"/>
                <a:ea typeface="Rubik"/>
                <a:cs typeface="Rubik"/>
              </a:rPr>
              <a:t>Die passende Version</a:t>
            </a:r>
          </a:p>
          <a:p xmlns:a="http://schemas.openxmlformats.org/drawingml/2006/main">
            <a:pPr>
              <a:lnSpc>
                <a:spcPct val="100000"/>
              </a:lnSpc>
              <a:buNone/>
              <a:defRPr sz="4275" b="1">
                <a:solidFill>
                  <a:srgbClr val="161B22"/>
                </a:solidFill>
                <a:latin typeface="Rubik"/>
                <a:ea typeface="Rubik"/>
                <a:cs typeface="Rubik"/>
              </a:defRPr>
            </a:pPr>
            <a:r>
              <a:rPr sz="4275" b="1">
                <a:solidFill>
                  <a:srgbClr val="161B22"/>
                </a:solidFill>
                <a:latin typeface="Rubik"/>
                <a:ea typeface="Rubik"/>
                <a:cs typeface="Rubik"/>
              </a:rPr>
              <a:t>für die eigene Arbeit</a:t>
            </a:r>
          </a:p>
        </p:txBody>
      </p:sp>
      <p:sp>
        <p:nvSpPr>
          <p:cNvPr id="5" name="">
            <a:extLst xmlns:a="http://schemas.openxmlformats.org/drawingml/2006/main">
              <a:ext uri="{FF2B5EF4-FFF2-40B4-BE49-F238E27FC236}">
                <a16:creationId xmlns:a16="http://schemas.microsoft.com/office/drawing/2014/main" id="{12024A61-8C65-4373-B1E8-A7F39FA19AEF}"/>
              </a:ext>
            </a:extLst>
          </p:cNvPr>
          <p:cNvSpPr>
            <a:spLocks xmlns:a="http://schemas.openxmlformats.org/drawingml/2006/main" noGrp="1"/>
          </p:cNvSpPr>
          <p:nvPr/>
        </p:nvSpPr>
        <p:spPr>
          <a:xfrm xmlns:a="http://schemas.openxmlformats.org/drawingml/2006/main">
            <a:off x="647700" y="3114675"/>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161B22"/>
                </a:solidFill>
                <a:latin typeface="Rubik"/>
                <a:ea typeface="Rubik"/>
                <a:cs typeface="Rubik"/>
              </a:defRPr>
            </a:pPr>
            <a:r>
              <a:rPr sz="3150" b="1">
                <a:solidFill>
                  <a:srgbClr val="161B22"/>
                </a:solidFill>
                <a:latin typeface="Rubik"/>
                <a:ea typeface="Rubik"/>
                <a:cs typeface="Rubik"/>
              </a:rPr>
              <a:t>Für mich</a:t>
            </a:r>
          </a:p>
        </p:txBody>
      </p:sp>
      <p:sp>
        <p:nvSpPr>
          <p:cNvPr id="6" name="">
            <a:extLst xmlns:a="http://schemas.openxmlformats.org/drawingml/2006/main">
              <a:ext uri="{FF2B5EF4-FFF2-40B4-BE49-F238E27FC236}">
                <a16:creationId xmlns:a16="http://schemas.microsoft.com/office/drawing/2014/main" id="{CB7BFD80-C669-417E-AE03-C1F18B34DE66}"/>
              </a:ext>
            </a:extLst>
          </p:cNvPr>
          <p:cNvSpPr>
            <a:spLocks xmlns:a="http://schemas.openxmlformats.org/drawingml/2006/main" noGrp="1"/>
          </p:cNvSpPr>
          <p:nvPr/>
        </p:nvSpPr>
        <p:spPr>
          <a:xfrm xmlns:a="http://schemas.openxmlformats.org/drawingml/2006/main">
            <a:off x="647700" y="37242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8616A"/>
                </a:solidFill>
                <a:latin typeface="Rubik"/>
                <a:ea typeface="Rubik"/>
                <a:cs typeface="Rubik"/>
              </a:defRPr>
            </a:pPr>
            <a:r>
              <a:rPr sz="1875" b="0">
                <a:solidFill>
                  <a:srgbClr val="58616A"/>
                </a:solidFill>
                <a:latin typeface="Rubik"/>
                <a:ea typeface="Rubik"/>
                <a:cs typeface="Rubik"/>
              </a:rPr>
              <a:t>--scope user</a:t>
            </a:r>
          </a:p>
        </p:txBody>
      </p:sp>
      <p:sp>
        <p:nvSpPr>
          <p:cNvPr id="7" name="">
            <a:extLst xmlns:a="http://schemas.openxmlformats.org/drawingml/2006/main">
              <a:ext uri="{FF2B5EF4-FFF2-40B4-BE49-F238E27FC236}">
                <a16:creationId xmlns:a16="http://schemas.microsoft.com/office/drawing/2014/main" id="{EE2D3E75-1005-4B2A-997E-9261FC92235D}"/>
              </a:ext>
            </a:extLst>
          </p:cNvPr>
          <p:cNvSpPr>
            <a:spLocks xmlns:a="http://schemas.openxmlformats.org/drawingml/2006/main" noGrp="1"/>
          </p:cNvSpPr>
          <p:nvPr/>
        </p:nvSpPr>
        <p:spPr>
          <a:xfrm xmlns:a="http://schemas.openxmlformats.org/drawingml/2006/main">
            <a:off x="647700" y="4305300"/>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Eine private Paketversion mit passenden</a:t>
            </a:r>
          </a:p>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Abhängigkeiten gilt im eigenen Kontext.</a:t>
            </a:r>
          </a:p>
        </p:txBody>
      </p:sp>
      <p:sp>
        <p:nvSpPr>
          <p:cNvPr id="8" name="">
            <a:extLst xmlns:a="http://schemas.openxmlformats.org/drawingml/2006/main">
              <a:ext uri="{FF2B5EF4-FFF2-40B4-BE49-F238E27FC236}">
                <a16:creationId xmlns:a16="http://schemas.microsoft.com/office/drawing/2014/main" id="{985AEBD0-EB86-40CB-B332-55C280F19108}"/>
              </a:ext>
            </a:extLst>
          </p:cNvPr>
          <p:cNvSpPr>
            <a:spLocks xmlns:a="http://schemas.openxmlformats.org/drawingml/2006/main" noGrp="1"/>
          </p:cNvSpPr>
          <p:nvPr/>
        </p:nvSpPr>
        <p:spPr>
          <a:xfrm xmlns:a="http://schemas.openxmlformats.org/drawingml/2006/main">
            <a:off x="6734175" y="3114675"/>
            <a:ext cx="48482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161B22"/>
                </a:solidFill>
                <a:latin typeface="Rubik"/>
                <a:ea typeface="Rubik"/>
                <a:cs typeface="Rubik"/>
              </a:defRPr>
            </a:pPr>
            <a:r>
              <a:rPr sz="3150" b="1">
                <a:solidFill>
                  <a:srgbClr val="161B22"/>
                </a:solidFill>
                <a:latin typeface="Rubik"/>
                <a:ea typeface="Rubik"/>
                <a:cs typeface="Rubik"/>
              </a:rPr>
              <a:t>Für alle</a:t>
            </a:r>
          </a:p>
        </p:txBody>
      </p:sp>
      <p:sp>
        <p:nvSpPr>
          <p:cNvPr id="9" name="">
            <a:extLst xmlns:a="http://schemas.openxmlformats.org/drawingml/2006/main">
              <a:ext uri="{FF2B5EF4-FFF2-40B4-BE49-F238E27FC236}">
                <a16:creationId xmlns:a16="http://schemas.microsoft.com/office/drawing/2014/main" id="{D2E03728-98A0-4AA5-88DC-4D99FDFA0967}"/>
              </a:ext>
            </a:extLst>
          </p:cNvPr>
          <p:cNvSpPr>
            <a:spLocks xmlns:a="http://schemas.openxmlformats.org/drawingml/2006/main" noGrp="1"/>
          </p:cNvSpPr>
          <p:nvPr/>
        </p:nvSpPr>
        <p:spPr>
          <a:xfrm xmlns:a="http://schemas.openxmlformats.org/drawingml/2006/main">
            <a:off x="6734175" y="3724275"/>
            <a:ext cx="4848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8616A"/>
                </a:solidFill>
                <a:latin typeface="Rubik"/>
                <a:ea typeface="Rubik"/>
                <a:cs typeface="Rubik"/>
              </a:defRPr>
            </a:pPr>
            <a:r>
              <a:rPr sz="1875" b="0">
                <a:solidFill>
                  <a:srgbClr val="58616A"/>
                </a:solidFill>
                <a:latin typeface="Rubik"/>
                <a:ea typeface="Rubik"/>
                <a:cs typeface="Rubik"/>
              </a:rPr>
              <a:t>--scope all</a:t>
            </a:r>
          </a:p>
        </p:txBody>
      </p:sp>
      <p:sp>
        <p:nvSpPr>
          <p:cNvPr id="10" name="">
            <a:extLst xmlns:a="http://schemas.openxmlformats.org/drawingml/2006/main">
              <a:ext uri="{FF2B5EF4-FFF2-40B4-BE49-F238E27FC236}">
                <a16:creationId xmlns:a16="http://schemas.microsoft.com/office/drawing/2014/main" id="{DA6D9811-1E29-4D9B-B3A8-44F9A7065C98}"/>
              </a:ext>
            </a:extLst>
          </p:cNvPr>
          <p:cNvSpPr>
            <a:spLocks xmlns:a="http://schemas.openxmlformats.org/drawingml/2006/main" noGrp="1"/>
          </p:cNvSpPr>
          <p:nvPr/>
        </p:nvSpPr>
        <p:spPr>
          <a:xfrm xmlns:a="http://schemas.openxmlformats.org/drawingml/2006/main">
            <a:off x="6734175" y="4305300"/>
            <a:ext cx="48482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Ein gemeinsamer Paketbestand steht</a:t>
            </a:r>
          </a:p>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allen persönlichen Kontexten bereit.</a:t>
            </a:r>
          </a:p>
        </p:txBody>
      </p:sp>
      <p:sp>
        <p:nvSpPr>
          <p:cNvPr id="11" name="">
            <a:extLst xmlns:a="http://schemas.openxmlformats.org/drawingml/2006/main">
              <a:ext uri="{FF2B5EF4-FFF2-40B4-BE49-F238E27FC236}">
                <a16:creationId xmlns:a16="http://schemas.microsoft.com/office/drawing/2014/main" id="{E1B53B2E-FC6A-4CE9-99F2-EA216DA8531F}"/>
              </a:ext>
            </a:extLst>
          </p:cNvPr>
          <p:cNvSpPr>
            <a:spLocks xmlns:a="http://schemas.openxmlformats.org/drawingml/2006/main" noGrp="1"/>
          </p:cNvSpPr>
          <p:nvPr/>
        </p:nvSpPr>
        <p:spPr>
          <a:xfrm xmlns:a="http://schemas.openxmlformats.org/drawingml/2006/main">
            <a:off x="647700" y="5457825"/>
            <a:ext cx="1064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61B22"/>
                </a:solidFill>
                <a:latin typeface="Rubik"/>
                <a:ea typeface="Rubik"/>
                <a:cs typeface="Rubik"/>
              </a:defRPr>
            </a:pPr>
            <a:r>
              <a:rPr sz="2175" b="1">
                <a:solidFill>
                  <a:srgbClr val="161B22"/>
                </a:solidFill>
                <a:latin typeface="Rubik"/>
                <a:ea typeface="Rubik"/>
                <a:cs typeface="Rubik"/>
              </a:rPr>
              <a:t>Gemeinsame Updates sollen private Versionen erhalten.</a:t>
            </a:r>
          </a:p>
        </p:txBody>
      </p:sp>
      <p:sp>
        <p:nvSpPr>
          <p:cNvPr id="12" name="">
            <a:extLst xmlns:a="http://schemas.openxmlformats.org/drawingml/2006/main">
              <a:ext uri="{FF2B5EF4-FFF2-40B4-BE49-F238E27FC236}">
                <a16:creationId xmlns:a16="http://schemas.microsoft.com/office/drawing/2014/main" id="{F183236B-8CC3-4F88-BEB6-B0B6A94E156C}"/>
              </a:ext>
            </a:extLst>
          </p:cNvPr>
          <p:cNvSpPr>
            <a:spLocks xmlns:a="http://schemas.openxmlformats.org/drawingml/2006/main" noGrp="1"/>
          </p:cNvSpPr>
          <p:nvPr/>
        </p:nvSpPr>
        <p:spPr>
          <a:xfrm xmlns:a="http://schemas.openxmlformats.org/drawingml/2006/main">
            <a:off x="647700" y="6076950"/>
            <a:ext cx="1040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Jede Paketaktion braucht AOSP-Adminautorisierung. Die Umsetzung steht noch aus.</a:t>
            </a:r>
          </a:p>
        </p:txBody>
      </p:sp>
    </p:spTree>
    <p:extLst>
      <p:ext uri="{BB962C8B-B14F-4D97-AF65-F5344CB8AC3E}">
        <p14:creationId xmlns:p14="http://schemas.microsoft.com/office/powerpoint/2010/main" val="408881978"/>
      </p:ext>
    </p:extLst>
  </p:cSld>
</p:sld>
</file>

<file path=ppt/slides/slide5.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756D1E-E44C-46E6-AB4D-7A8665045BBF}"/>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ægis.os</a:t>
            </a:r>
          </a:p>
        </p:txBody>
      </p:sp>
      <p:sp>
        <p:nvSpPr>
          <p:cNvPr id="2" name="">
            <a:extLst xmlns:a="http://schemas.openxmlformats.org/drawingml/2006/main">
              <a:ext uri="{FF2B5EF4-FFF2-40B4-BE49-F238E27FC236}">
                <a16:creationId xmlns:a16="http://schemas.microsoft.com/office/drawing/2014/main" id="{08D07D95-F072-493C-9191-4E88EBA6FEAE}"/>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Stand 28. September 2026</a:t>
            </a:r>
          </a:p>
        </p:txBody>
      </p:sp>
      <p:sp>
        <p:nvSpPr>
          <p:cNvPr id="3" name="">
            <a:extLst xmlns:a="http://schemas.openxmlformats.org/drawingml/2006/main">
              <a:ext uri="{FF2B5EF4-FFF2-40B4-BE49-F238E27FC236}">
                <a16:creationId xmlns:a16="http://schemas.microsoft.com/office/drawing/2014/main" id="{8F670AFD-25FB-431D-BCF4-55B1DEAE9925}"/>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05</a:t>
            </a:r>
          </a:p>
        </p:txBody>
      </p:sp>
      <p:sp>
        <p:nvSpPr>
          <p:cNvPr id="4" name="">
            <a:extLst xmlns:a="http://schemas.openxmlformats.org/drawingml/2006/main">
              <a:ext uri="{FF2B5EF4-FFF2-40B4-BE49-F238E27FC236}">
                <a16:creationId xmlns:a16="http://schemas.microsoft.com/office/drawing/2014/main" id="{9C1C412E-0821-4FC2-8D9B-F84621EE77C1}"/>
              </a:ext>
            </a:extLst>
          </p:cNvPr>
          <p:cNvSpPr>
            <a:spLocks xmlns:a="http://schemas.openxmlformats.org/drawingml/2006/main" noGrp="1"/>
          </p:cNvSpPr>
          <p:nvPr/>
        </p:nvSpPr>
        <p:spPr>
          <a:xfrm xmlns:a="http://schemas.openxmlformats.org/drawingml/2006/main">
            <a:off x="609600" y="11811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75" b="1">
                <a:solidFill>
                  <a:srgbClr val="161B22"/>
                </a:solidFill>
                <a:latin typeface="Rubik"/>
                <a:ea typeface="Rubik"/>
                <a:cs typeface="Rubik"/>
              </a:defRPr>
            </a:pPr>
            <a:r>
              <a:rPr sz="4575" b="1">
                <a:solidFill>
                  <a:srgbClr val="161B22"/>
                </a:solidFill>
                <a:latin typeface="Rubik"/>
                <a:ea typeface="Rubik"/>
                <a:cs typeface="Rubik"/>
              </a:rPr>
              <a:t>Was heute belegt ist</a:t>
            </a:r>
          </a:p>
        </p:txBody>
      </p:sp>
      <p:graphicFrame>
        <p:nvGraphicFramePr>
          <p:cNvPr id="13" name=""/>
          <p:cNvGraphicFramePr/>
          <p:nvPr/>
        </p:nvGraphicFramePr>
        <p:xfrm>
          <a:off xmlns:a="http://schemas.openxmlformats.org/drawingml/2006/main" x="609600" y="2514600"/>
          <a:ext xmlns:a="http://schemas.openxmlformats.org/drawingml/2006/main" cx="8201025" cy="3286125"/>
        </p:xfrm>
        <a:graphic xmlns:a="http://schemas.openxmlformats.org/drawingml/2006/main">
          <a:graphicData uri="http://schemas.openxmlformats.org/drawingml/2006/table">
            <a:tbl>
              <a:tblPr firstRow="0" firstCol="0" bandRow="0"/>
              <a:tblGrid>
                <a:gridCol w="1933575"/>
                <a:gridCol w="6267450"/>
              </a:tblGrid>
              <a:tr h="1095375">
                <a:tc>
                  <a:txBody>
                    <a:bodyPr wrap="square" lIns="171450" tIns="142875" rIns="76200" bIns="142875">
                      <a:noAutofit/>
                    </a:bodyPr>
                    <a:lstStyle/>
                    <a:p>
                      <a:r>
                        <a:rPr sz="1650" b="1">
                          <a:solidFill>
                            <a:srgbClr val="C4F15A"/>
                          </a:solidFill>
                          <a:latin typeface="Rubik"/>
                          <a:ea typeface="Rubik"/>
                          <a:cs typeface="Rubik"/>
                        </a:rPr>
                        <a:t>Nachgewiesen</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Android bootet mit sichtbarer Oberfläche.</a:t>
                      </a:r>
                    </a:p>
                    <a:p>
                      <a:r>
                        <a:rPr sz="1688" b="0">
                          <a:solidFill>
                            <a:srgbClr val="161B22"/>
                          </a:solidFill>
                          <a:latin typeface="Rubik"/>
                          <a:ea typeface="Rubik"/>
                          <a:cs typeface="Rubik"/>
                        </a:rPr>
                        <a:t>AOSP-Passwort-, CE-Sperr- und Löschtests</a:t>
                      </a:r>
                    </a:p>
                    <a:p>
                      <a:r>
                        <a:rPr sz="1688" b="0">
                          <a:solidFill>
                            <a:srgbClr val="161B22"/>
                          </a:solidFill>
                          <a:latin typeface="Rubik"/>
                          <a:ea typeface="Rubik"/>
                          <a:cs typeface="Rubik"/>
                        </a:rPr>
                        <a:t>mit einem Testbenutzer.</a:t>
                      </a:r>
                    </a:p>
                  </a:txBody>
                  <a:tcPr marL="91440" marR="91440" marT="45720" marB="45720" anchor="ctr">
                    <a:solidFill>
                      <a:srgbClr val="F6F7F9"/>
                    </a:solidFill>
                  </a:tcPr>
                </a:tc>
              </a:tr>
              <a:tr h="1095375">
                <a:tc>
                  <a:txBody>
                    <a:bodyPr wrap="square" lIns="171450" tIns="142875" rIns="76200" bIns="142875">
                      <a:noAutofit/>
                    </a:bodyPr>
                    <a:lstStyle/>
                    <a:p>
                      <a:r>
                        <a:rPr sz="1650" b="1">
                          <a:solidFill>
                            <a:srgbClr val="F6F7F9"/>
                          </a:solidFill>
                          <a:latin typeface="Rubik"/>
                          <a:ea typeface="Rubik"/>
                          <a:cs typeface="Rubik"/>
                        </a:rPr>
                        <a:t>Vorbereitet</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Debian-13.7-Archiv: 78 Pakete geprüft.</a:t>
                      </a:r>
                    </a:p>
                    <a:p>
                      <a:r>
                        <a:rPr sz="1688" b="0">
                          <a:solidFill>
                            <a:srgbClr val="161B22"/>
                          </a:solidFill>
                          <a:latin typeface="Rubik"/>
                          <a:ea typeface="Rubik"/>
                          <a:cs typeface="Rubik"/>
                        </a:rPr>
                        <a:t>Identitäts- und Runtime-Code im Quelltext,</a:t>
                      </a:r>
                    </a:p>
                    <a:p>
                      <a:r>
                        <a:rPr sz="1688" b="0">
                          <a:solidFill>
                            <a:srgbClr val="161B22"/>
                          </a:solidFill>
                          <a:latin typeface="Rubik"/>
                          <a:ea typeface="Rubik"/>
                          <a:cs typeface="Rubik"/>
                        </a:rPr>
                        <a:t>noch nicht im Gast integriert.</a:t>
                      </a:r>
                    </a:p>
                  </a:txBody>
                  <a:tcPr marL="91440" marR="91440" marT="45720" marB="45720" anchor="ctr">
                    <a:solidFill>
                      <a:srgbClr val="F6F7F9"/>
                    </a:solidFill>
                  </a:tcPr>
                </a:tc>
              </a:tr>
              <a:tr h="1095375">
                <a:tc>
                  <a:txBody>
                    <a:bodyPr wrap="square" lIns="171450" tIns="142875" rIns="76200" bIns="142875">
                      <a:noAutofit/>
                    </a:bodyPr>
                    <a:lstStyle/>
                    <a:p>
                      <a:r>
                        <a:rPr sz="1650" b="1">
                          <a:solidFill>
                            <a:srgbClr val="F6F7F9"/>
                          </a:solidFill>
                          <a:latin typeface="Rubik"/>
                          <a:ea typeface="Rubik"/>
                          <a:cs typeface="Rubik"/>
                        </a:rPr>
                        <a:t>Noch offen</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GNU-Ausführung und Systemintegration.</a:t>
                      </a:r>
                    </a:p>
                    <a:p>
                      <a:r>
                        <a:rPr sz="1688" b="0">
                          <a:solidFill>
                            <a:srgbClr val="161B22"/>
                          </a:solidFill>
                          <a:latin typeface="Rubik"/>
                          <a:ea typeface="Rubik"/>
                          <a:cs typeface="Rubik"/>
                        </a:rPr>
                        <a:t>Pakete sowie der vollständige Nachweis</a:t>
                      </a:r>
                    </a:p>
                    <a:p>
                      <a:r>
                        <a:rPr sz="1688" b="0">
                          <a:solidFill>
                            <a:srgbClr val="161B22"/>
                          </a:solidFill>
                          <a:latin typeface="Rubik"/>
                          <a:ea typeface="Rubik"/>
                          <a:cs typeface="Rubik"/>
                        </a:rPr>
                        <a:t>mit zwei Benutzern.</a:t>
                      </a:r>
                    </a:p>
                  </a:txBody>
                  <a:tcPr marL="91440" marR="91440" marT="45720" marB="45720" anchor="ctr">
                    <a:solidFill>
                      <a:srgbClr val="F6F7F9"/>
                    </a:solidFill>
                  </a:tcPr>
                </a:tc>
              </a:tr>
            </a:tbl>
          </a:graphicData>
        </a:graphic>
      </p:graphicFrame>
      <p:sp>
        <p:nvSpPr>
          <p:cNvPr id="6" name="">
            <a:extLst xmlns:a="http://schemas.openxmlformats.org/drawingml/2006/main">
              <a:ext uri="{FF2B5EF4-FFF2-40B4-BE49-F238E27FC236}">
                <a16:creationId xmlns:a16="http://schemas.microsoft.com/office/drawing/2014/main" id="{86F449B7-0A88-4173-B3D5-013E77199459}"/>
              </a:ext>
            </a:extLst>
          </p:cNvPr>
          <p:cNvSpPr>
            <a:spLocks xmlns:a="http://schemas.openxmlformats.org/drawingml/2006/main" noGrp="1"/>
          </p:cNvSpPr>
          <p:nvPr/>
        </p:nvSpPr>
        <p:spPr>
          <a:xfrm xmlns:a="http://schemas.openxmlformats.org/drawingml/2006/main">
            <a:off x="647700" y="609600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GNU-Runtime noch nicht ausführbar. Neuer Code unkompiliert.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c59e0d28cb14e56"/>
          <a:stretch xmlns:a="http://schemas.openxmlformats.org/drawingml/2006/main"/>
        </p:blipFill>
        <p:spPr>
          <a:xfrm xmlns:a="http://schemas.openxmlformats.org/drawingml/2006/main">
            <a:off x="9210675" y="2229908"/>
            <a:ext cx="2066925" cy="367453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A85190-4D04-4637-A647-FC511F28FBD7}"/>
              </a:ext>
            </a:extLst>
          </p:cNvPr>
          <p:cNvSpPr>
            <a:spLocks xmlns:a="http://schemas.openxmlformats.org/drawingml/2006/main" noGrp="1"/>
          </p:cNvSpPr>
          <p:nvPr/>
        </p:nvSpPr>
        <p:spPr>
          <a:xfrm xmlns:a="http://schemas.openxmlformats.org/drawingml/2006/main">
            <a:off x="9086850" y="6029325"/>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275" b="0">
                <a:solidFill>
                  <a:srgbClr val="58616A"/>
                </a:solidFill>
                <a:latin typeface="Rubik"/>
                <a:ea typeface="Rubik"/>
                <a:cs typeface="Rubik"/>
              </a:defRPr>
            </a:pPr>
            <a:r>
              <a:rPr sz="1275" b="0">
                <a:solidFill>
                  <a:srgbClr val="58616A"/>
                </a:solidFill>
                <a:latin typeface="Rubik"/>
                <a:ea typeface="Rubik"/>
                <a:cs typeface="Rubik"/>
              </a:rPr>
              <a:t>Realer AOSP-Gast in QEMU</a:t>
            </a:r>
          </a:p>
        </p:txBody>
      </p:sp>
    </p:spTree>
    <p:extLst>
      <p:ext uri="{BB962C8B-B14F-4D97-AF65-F5344CB8AC3E}">
        <p14:creationId xmlns:p14="http://schemas.microsoft.com/office/powerpoint/2010/main" val="857371010"/>
      </p:ext>
    </p:extLst>
  </p:cSld>
</p:sld>
</file>

<file path=ppt/slides/slide6.xml><?xml version="1.0" encoding="utf-8"?>
<p:sld xmlns:p="http://schemas.openxmlformats.org/presentationml/2006/main">
  <p:cSld>
    <p:bg>
      <p:bgPr>
        <a:solidFill xmlns:a="http://schemas.openxmlformats.org/drawingml/2006/main">
          <a:srgbClr val="C4F15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649BF8E-5EA2-4FDF-A1F7-4D2E5109C937}"/>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ægis.os</a:t>
            </a:r>
          </a:p>
        </p:txBody>
      </p:sp>
      <p:sp>
        <p:nvSpPr>
          <p:cNvPr id="2" name="">
            <a:extLst xmlns:a="http://schemas.openxmlformats.org/drawingml/2006/main">
              <a:ext uri="{FF2B5EF4-FFF2-40B4-BE49-F238E27FC236}">
                <a16:creationId xmlns:a16="http://schemas.microsoft.com/office/drawing/2014/main" id="{ECB790B0-AC91-4F2B-8228-869D645BC432}"/>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Nächster Integrationsnachweis</a:t>
            </a:r>
          </a:p>
        </p:txBody>
      </p:sp>
      <p:sp>
        <p:nvSpPr>
          <p:cNvPr id="3" name="">
            <a:extLst xmlns:a="http://schemas.openxmlformats.org/drawingml/2006/main">
              <a:ext uri="{FF2B5EF4-FFF2-40B4-BE49-F238E27FC236}">
                <a16:creationId xmlns:a16="http://schemas.microsoft.com/office/drawing/2014/main" id="{BAD17A4C-AD1E-4734-9CA9-B94F4E82E9E5}"/>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06</a:t>
            </a:r>
          </a:p>
        </p:txBody>
      </p:sp>
      <p:sp>
        <p:nvSpPr>
          <p:cNvPr id="4" name="">
            <a:extLst xmlns:a="http://schemas.openxmlformats.org/drawingml/2006/main">
              <a:ext uri="{FF2B5EF4-FFF2-40B4-BE49-F238E27FC236}">
                <a16:creationId xmlns:a16="http://schemas.microsoft.com/office/drawing/2014/main" id="{BC64BB77-91EF-4B2E-808F-E8A02B47C0CD}"/>
              </a:ext>
            </a:extLst>
          </p:cNvPr>
          <p:cNvSpPr>
            <a:spLocks xmlns:a="http://schemas.openxmlformats.org/drawingml/2006/main" noGrp="1"/>
          </p:cNvSpPr>
          <p:nvPr/>
        </p:nvSpPr>
        <p:spPr>
          <a:xfrm xmlns:a="http://schemas.openxmlformats.org/drawingml/2006/main">
            <a:off x="609600" y="1114425"/>
            <a:ext cx="109728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500" b="1">
                <a:solidFill>
                  <a:srgbClr val="161B22"/>
                </a:solidFill>
                <a:latin typeface="Rubik"/>
                <a:ea typeface="Rubik"/>
                <a:cs typeface="Rubik"/>
              </a:defRPr>
            </a:pPr>
            <a:r>
              <a:rPr sz="4500" b="1">
                <a:solidFill>
                  <a:srgbClr val="161B22"/>
                </a:solidFill>
                <a:latin typeface="Rubik"/>
                <a:ea typeface="Rubik"/>
                <a:cs typeface="Rubik"/>
              </a:rPr>
              <a:t>Nächster Nachweis:</a:t>
            </a:r>
          </a:p>
          <a:p xmlns:a="http://schemas.openxmlformats.org/drawingml/2006/main">
            <a:pPr>
              <a:lnSpc>
                <a:spcPct val="100000"/>
              </a:lnSpc>
              <a:buNone/>
              <a:defRPr sz="4500" b="1">
                <a:solidFill>
                  <a:srgbClr val="161B22"/>
                </a:solidFill>
                <a:latin typeface="Rubik"/>
                <a:ea typeface="Rubik"/>
                <a:cs typeface="Rubik"/>
              </a:defRPr>
            </a:pPr>
            <a:r>
              <a:rPr sz="4500" b="1">
                <a:solidFill>
                  <a:srgbClr val="161B22"/>
                </a:solidFill>
                <a:latin typeface="Rubik"/>
                <a:ea typeface="Rubik"/>
                <a:cs typeface="Rubik"/>
              </a:rPr>
              <a:t>GNU/Linux im AOSP-Gast</a:t>
            </a:r>
          </a:p>
        </p:txBody>
      </p:sp>
      <p:sp>
        <p:nvSpPr>
          <p:cNvPr id="5" name="">
            <a:extLst xmlns:a="http://schemas.openxmlformats.org/drawingml/2006/main">
              <a:ext uri="{FF2B5EF4-FFF2-40B4-BE49-F238E27FC236}">
                <a16:creationId xmlns:a16="http://schemas.microsoft.com/office/drawing/2014/main" id="{22724478-3B65-4C15-91A1-3D0BF6C7C09A}"/>
              </a:ext>
            </a:extLst>
          </p:cNvPr>
          <p:cNvSpPr>
            <a:spLocks xmlns:a="http://schemas.openxmlformats.org/drawingml/2006/main" noGrp="1"/>
          </p:cNvSpPr>
          <p:nvPr/>
        </p:nvSpPr>
        <p:spPr>
          <a:xfrm xmlns:a="http://schemas.openxmlformats.org/drawingml/2006/main">
            <a:off x="647700" y="30861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01</a:t>
            </a:r>
          </a:p>
        </p:txBody>
      </p:sp>
      <p:sp>
        <p:nvSpPr>
          <p:cNvPr id="6" name="">
            <a:extLst xmlns:a="http://schemas.openxmlformats.org/drawingml/2006/main">
              <a:ext uri="{FF2B5EF4-FFF2-40B4-BE49-F238E27FC236}">
                <a16:creationId xmlns:a16="http://schemas.microsoft.com/office/drawing/2014/main" id="{05D67A0F-5978-49DB-B441-EC4530AC5F33}"/>
              </a:ext>
            </a:extLst>
          </p:cNvPr>
          <p:cNvSpPr>
            <a:spLocks xmlns:a="http://schemas.openxmlformats.org/drawingml/2006/main" noGrp="1"/>
          </p:cNvSpPr>
          <p:nvPr/>
        </p:nvSpPr>
        <p:spPr>
          <a:xfrm xmlns:a="http://schemas.openxmlformats.org/drawingml/2006/main">
            <a:off x="1714500" y="3086100"/>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Kernel integrieren</a:t>
            </a:r>
          </a:p>
        </p:txBody>
      </p:sp>
      <p:sp>
        <p:nvSpPr>
          <p:cNvPr id="7" name="">
            <a:extLst xmlns:a="http://schemas.openxmlformats.org/drawingml/2006/main">
              <a:ext uri="{FF2B5EF4-FFF2-40B4-BE49-F238E27FC236}">
                <a16:creationId xmlns:a16="http://schemas.microsoft.com/office/drawing/2014/main" id="{A2AB2EE8-7109-457E-A6E5-12890C155FF5}"/>
              </a:ext>
            </a:extLst>
          </p:cNvPr>
          <p:cNvSpPr>
            <a:spLocks xmlns:a="http://schemas.openxmlformats.org/drawingml/2006/main" noGrp="1"/>
          </p:cNvSpPr>
          <p:nvPr/>
        </p:nvSpPr>
        <p:spPr>
          <a:xfrm xmlns:a="http://schemas.openxmlformats.org/drawingml/2006/main">
            <a:off x="1714500" y="3495675"/>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User-, PID-, Mount- und IPC-Isolation im Gast prüfen.</a:t>
            </a:r>
          </a:p>
        </p:txBody>
      </p:sp>
      <p:sp>
        <p:nvSpPr>
          <p:cNvPr id="8" name="">
            <a:extLst xmlns:a="http://schemas.openxmlformats.org/drawingml/2006/main">
              <a:ext uri="{FF2B5EF4-FFF2-40B4-BE49-F238E27FC236}">
                <a16:creationId xmlns:a16="http://schemas.microsoft.com/office/drawing/2014/main" id="{A4F7B85E-7C78-45DD-9C7E-2F7FCF6143F6}"/>
              </a:ext>
            </a:extLst>
          </p:cNvPr>
          <p:cNvSpPr>
            <a:spLocks xmlns:a="http://schemas.openxmlformats.org/drawingml/2006/main" noGrp="1"/>
          </p:cNvSpPr>
          <p:nvPr/>
        </p:nvSpPr>
        <p:spPr>
          <a:xfrm xmlns:a="http://schemas.openxmlformats.org/drawingml/2006/main">
            <a:off x="647700" y="40290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02</a:t>
            </a:r>
          </a:p>
        </p:txBody>
      </p:sp>
      <p:sp>
        <p:nvSpPr>
          <p:cNvPr id="9" name="">
            <a:extLst xmlns:a="http://schemas.openxmlformats.org/drawingml/2006/main">
              <a:ext uri="{FF2B5EF4-FFF2-40B4-BE49-F238E27FC236}">
                <a16:creationId xmlns:a16="http://schemas.microsoft.com/office/drawing/2014/main" id="{5C3CFB63-7038-4394-89AC-62804AA4A6CB}"/>
              </a:ext>
            </a:extLst>
          </p:cNvPr>
          <p:cNvSpPr>
            <a:spLocks xmlns:a="http://schemas.openxmlformats.org/drawingml/2006/main" noGrp="1"/>
          </p:cNvSpPr>
          <p:nvPr/>
        </p:nvSpPr>
        <p:spPr>
          <a:xfrm xmlns:a="http://schemas.openxmlformats.org/drawingml/2006/main">
            <a:off x="1714500" y="4029075"/>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Runtime anbinden</a:t>
            </a:r>
          </a:p>
        </p:txBody>
      </p:sp>
      <p:sp>
        <p:nvSpPr>
          <p:cNvPr id="10" name="">
            <a:extLst xmlns:a="http://schemas.openxmlformats.org/drawingml/2006/main">
              <a:ext uri="{FF2B5EF4-FFF2-40B4-BE49-F238E27FC236}">
                <a16:creationId xmlns:a16="http://schemas.microsoft.com/office/drawing/2014/main" id="{C2087D8C-066F-4216-8B1D-391B84B7E88C}"/>
              </a:ext>
            </a:extLst>
          </p:cNvPr>
          <p:cNvSpPr>
            <a:spLocks xmlns:a="http://schemas.openxmlformats.org/drawingml/2006/main" noGrp="1"/>
          </p:cNvSpPr>
          <p:nvPr/>
        </p:nvSpPr>
        <p:spPr>
          <a:xfrm xmlns:a="http://schemas.openxmlformats.org/drawingml/2006/main">
            <a:off x="1714500" y="4438650"/>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AOSP-Identität, persönliche Mounts und SELinux zusammenführen.</a:t>
            </a:r>
          </a:p>
        </p:txBody>
      </p:sp>
      <p:sp>
        <p:nvSpPr>
          <p:cNvPr id="11" name="">
            <a:extLst xmlns:a="http://schemas.openxmlformats.org/drawingml/2006/main">
              <a:ext uri="{FF2B5EF4-FFF2-40B4-BE49-F238E27FC236}">
                <a16:creationId xmlns:a16="http://schemas.microsoft.com/office/drawing/2014/main" id="{49B051C2-1B5A-4568-88B3-8B26B0A5CAC9}"/>
              </a:ext>
            </a:extLst>
          </p:cNvPr>
          <p:cNvSpPr>
            <a:spLocks xmlns:a="http://schemas.openxmlformats.org/drawingml/2006/main" noGrp="1"/>
          </p:cNvSpPr>
          <p:nvPr/>
        </p:nvSpPr>
        <p:spPr>
          <a:xfrm xmlns:a="http://schemas.openxmlformats.org/drawingml/2006/main">
            <a:off x="647700" y="4972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03</a:t>
            </a:r>
          </a:p>
        </p:txBody>
      </p:sp>
      <p:sp>
        <p:nvSpPr>
          <p:cNvPr id="12" name="">
            <a:extLst xmlns:a="http://schemas.openxmlformats.org/drawingml/2006/main">
              <a:ext uri="{FF2B5EF4-FFF2-40B4-BE49-F238E27FC236}">
                <a16:creationId xmlns:a16="http://schemas.microsoft.com/office/drawing/2014/main" id="{34C2C326-2BF2-41AC-9CBA-5562462736A4}"/>
              </a:ext>
            </a:extLst>
          </p:cNvPr>
          <p:cNvSpPr>
            <a:spLocks xmlns:a="http://schemas.openxmlformats.org/drawingml/2006/main" noGrp="1"/>
          </p:cNvSpPr>
          <p:nvPr/>
        </p:nvSpPr>
        <p:spPr>
          <a:xfrm xmlns:a="http://schemas.openxmlformats.org/drawingml/2006/main">
            <a:off x="1714500" y="4972050"/>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Den Ablauf belegen</a:t>
            </a:r>
          </a:p>
        </p:txBody>
      </p:sp>
      <p:sp>
        <p:nvSpPr>
          <p:cNvPr id="13" name="">
            <a:extLst xmlns:a="http://schemas.openxmlformats.org/drawingml/2006/main">
              <a:ext uri="{FF2B5EF4-FFF2-40B4-BE49-F238E27FC236}">
                <a16:creationId xmlns:a16="http://schemas.microsoft.com/office/drawing/2014/main" id="{55345D48-A611-4DF8-ACC9-E4767C21A8FA}"/>
              </a:ext>
            </a:extLst>
          </p:cNvPr>
          <p:cNvSpPr>
            <a:spLocks xmlns:a="http://schemas.openxmlformats.org/drawingml/2006/main" noGrp="1"/>
          </p:cNvSpPr>
          <p:nvPr/>
        </p:nvSpPr>
        <p:spPr>
          <a:xfrm xmlns:a="http://schemas.openxmlformats.org/drawingml/2006/main">
            <a:off x="1714500" y="5381625"/>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Bash ausführen, Daten nach Neustart erhalten und Logout bestätigen.</a:t>
            </a:r>
          </a:p>
        </p:txBody>
      </p:sp>
      <p:sp>
        <p:nvSpPr>
          <p:cNvPr id="14" name="">
            <a:extLst xmlns:a="http://schemas.openxmlformats.org/drawingml/2006/main">
              <a:ext uri="{FF2B5EF4-FFF2-40B4-BE49-F238E27FC236}">
                <a16:creationId xmlns:a16="http://schemas.microsoft.com/office/drawing/2014/main" id="{8ABF746C-0F4A-464E-9EA7-594C608DDEDD}"/>
              </a:ext>
            </a:extLst>
          </p:cNvPr>
          <p:cNvSpPr>
            <a:spLocks xmlns:a="http://schemas.openxmlformats.org/drawingml/2006/main" noGrp="1"/>
          </p:cNvSpPr>
          <p:nvPr/>
        </p:nvSpPr>
        <p:spPr>
          <a:xfrm xmlns:a="http://schemas.openxmlformats.org/drawingml/2006/main">
            <a:off x="6477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161B22"/>
                </a:solidFill>
                <a:latin typeface="Rubik"/>
                <a:ea typeface="Rubik"/>
                <a:cs typeface="Rubik"/>
              </a:defRPr>
            </a:pPr>
            <a:r>
              <a:rPr sz="1500" b="0">
                <a:solidFill>
                  <a:srgbClr val="161B22"/>
                </a:solidFill>
                <a:latin typeface="Rubik"/>
                <a:ea typeface="Rubik"/>
                <a:cs typeface="Rubik"/>
              </a:rPr>
              <a:t>Anschließend: Paketbereiche und Isolation mit zwei AOSP-Benutzern praktisch nachweisen.</a:t>
            </a:r>
          </a:p>
        </p:txBody>
      </p:sp>
    </p:spTree>
    <p:extLst>
      <p:ext uri="{BB962C8B-B14F-4D97-AF65-F5344CB8AC3E}">
        <p14:creationId xmlns:p14="http://schemas.microsoft.com/office/powerpoint/2010/main" val="727533055"/>
      </p:ext>
    </p:extLst>
  </p:cSld>
</p:sld>
</file>

<file path=ppt/slides/slide7.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84F689-7ADD-4D67-B7E6-EB3A6EC63289}"/>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ægis.os</a:t>
            </a:r>
          </a:p>
        </p:txBody>
      </p:sp>
      <p:sp>
        <p:nvSpPr>
          <p:cNvPr id="2" name="">
            <a:extLst xmlns:a="http://schemas.openxmlformats.org/drawingml/2006/main">
              <a:ext uri="{FF2B5EF4-FFF2-40B4-BE49-F238E27FC236}">
                <a16:creationId xmlns:a16="http://schemas.microsoft.com/office/drawing/2014/main" id="{844B3F37-51DD-4935-8FA2-6DA65613DAFD}"/>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Langfristige Vision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090c6115f9343bd"/>
          <a:srcRect xmlns:a="http://schemas.openxmlformats.org/drawingml/2006/main" l="23123" t="0" r="23123" b="0"/>
          <a:stretch xmlns:a="http://schemas.openxmlformats.org/drawingml/2006/main">
            <a:fillRect l="0" t="0" r="0" b="0"/>
          </a:stretch>
        </p:blipFill>
        <p:spPr>
          <a:xfrm xmlns:a="http://schemas.openxmlformats.org/drawingml/2006/main">
            <a:off x="6515100" y="914400"/>
            <a:ext cx="5676900" cy="5943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63DF38-D196-44CB-885B-09BDBF3D1329}"/>
              </a:ext>
            </a:extLst>
          </p:cNvPr>
          <p:cNvSpPr>
            <a:spLocks xmlns:a="http://schemas.openxmlformats.org/drawingml/2006/main" noGrp="1"/>
          </p:cNvSpPr>
          <p:nvPr/>
        </p:nvSpPr>
        <p:spPr>
          <a:xfrm xmlns:a="http://schemas.openxmlformats.org/drawingml/2006/main">
            <a:off x="609600" y="1152525"/>
            <a:ext cx="56007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125" b="1">
                <a:solidFill>
                  <a:srgbClr val="161B22"/>
                </a:solidFill>
                <a:latin typeface="Rubik"/>
                <a:ea typeface="Rubik"/>
                <a:cs typeface="Rubik"/>
              </a:defRPr>
            </a:pPr>
            <a:r>
              <a:rPr sz="4125" b="1">
                <a:solidFill>
                  <a:srgbClr val="161B22"/>
                </a:solidFill>
                <a:latin typeface="Rubik"/>
                <a:ea typeface="Rubik"/>
                <a:cs typeface="Rubik"/>
              </a:rPr>
              <a:t>Ein Fundament</a:t>
            </a:r>
          </a:p>
          <a:p xmlns:a="http://schemas.openxmlformats.org/drawingml/2006/main">
            <a:pPr>
              <a:lnSpc>
                <a:spcPct val="100000"/>
              </a:lnSpc>
              <a:buNone/>
              <a:defRPr sz="4125" b="1">
                <a:solidFill>
                  <a:srgbClr val="161B22"/>
                </a:solidFill>
                <a:latin typeface="Rubik"/>
                <a:ea typeface="Rubik"/>
                <a:cs typeface="Rubik"/>
              </a:defRPr>
            </a:pPr>
            <a:r>
              <a:rPr sz="4125" b="1">
                <a:solidFill>
                  <a:srgbClr val="161B22"/>
                </a:solidFill>
                <a:latin typeface="Rubik"/>
                <a:ea typeface="Rubik"/>
                <a:cs typeface="Rubik"/>
              </a:rPr>
              <a:t>für mehrere Geräte</a:t>
            </a:r>
          </a:p>
        </p:txBody>
      </p:sp>
      <p:sp>
        <p:nvSpPr>
          <p:cNvPr id="5" name="">
            <a:extLst xmlns:a="http://schemas.openxmlformats.org/drawingml/2006/main">
              <a:ext uri="{FF2B5EF4-FFF2-40B4-BE49-F238E27FC236}">
                <a16:creationId xmlns:a16="http://schemas.microsoft.com/office/drawing/2014/main" id="{BF004EE4-7074-41DB-933A-393E39F81FF7}"/>
              </a:ext>
            </a:extLst>
          </p:cNvPr>
          <p:cNvSpPr>
            <a:spLocks xmlns:a="http://schemas.openxmlformats.org/drawingml/2006/main" noGrp="1"/>
          </p:cNvSpPr>
          <p:nvPr/>
        </p:nvSpPr>
        <p:spPr>
          <a:xfrm xmlns:a="http://schemas.openxmlformats.org/drawingml/2006/main">
            <a:off x="647700" y="3171825"/>
            <a:ext cx="5324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6000"/>
              </a:lnSpc>
              <a:buNone/>
              <a:defRPr sz="2700" b="0">
                <a:solidFill>
                  <a:srgbClr val="161B22"/>
                </a:solidFill>
                <a:latin typeface="Rubik"/>
                <a:ea typeface="Rubik"/>
                <a:cs typeface="Rubik"/>
              </a:defRPr>
            </a:pPr>
            <a:r>
              <a:rPr sz="2700" b="0">
                <a:solidFill>
                  <a:srgbClr val="161B22"/>
                </a:solidFill>
                <a:latin typeface="Rubik"/>
                <a:ea typeface="Rubik"/>
                <a:cs typeface="Rubik"/>
              </a:rPr>
              <a:t>Smartphone und Tablet.</a:t>
            </a:r>
          </a:p>
          <a:p xmlns:a="http://schemas.openxmlformats.org/drawingml/2006/main">
            <a:pPr>
              <a:lnSpc>
                <a:spcPct val="116000"/>
              </a:lnSpc>
              <a:buNone/>
              <a:defRPr sz="2700" b="0">
                <a:solidFill>
                  <a:srgbClr val="161B22"/>
                </a:solidFill>
                <a:latin typeface="Rubik"/>
                <a:ea typeface="Rubik"/>
                <a:cs typeface="Rubik"/>
              </a:defRPr>
            </a:pPr>
            <a:r>
              <a:rPr sz="2700" b="0">
                <a:solidFill>
                  <a:srgbClr val="161B22"/>
                </a:solidFill>
                <a:latin typeface="Rubik"/>
                <a:ea typeface="Rubik"/>
                <a:cs typeface="Rubik"/>
              </a:rPr>
              <a:t>Notebook und Desktop.</a:t>
            </a:r>
          </a:p>
        </p:txBody>
      </p:sp>
      <p:sp>
        <p:nvSpPr>
          <p:cNvPr id="6" name="">
            <a:extLst xmlns:a="http://schemas.openxmlformats.org/drawingml/2006/main">
              <a:ext uri="{FF2B5EF4-FFF2-40B4-BE49-F238E27FC236}">
                <a16:creationId xmlns:a16="http://schemas.microsoft.com/office/drawing/2014/main" id="{6E6FDDE1-5B88-4826-A5AC-BBF15E08D1D4}"/>
              </a:ext>
            </a:extLst>
          </p:cNvPr>
          <p:cNvSpPr>
            <a:spLocks xmlns:a="http://schemas.openxmlformats.org/drawingml/2006/main" noGrp="1"/>
          </p:cNvSpPr>
          <p:nvPr/>
        </p:nvSpPr>
        <p:spPr>
          <a:xfrm xmlns:a="http://schemas.openxmlformats.org/drawingml/2006/main">
            <a:off x="647700" y="4581525"/>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2000"/>
              </a:lnSpc>
              <a:buNone/>
              <a:defRPr sz="2100" b="0">
                <a:solidFill>
                  <a:srgbClr val="58616A"/>
                </a:solidFill>
                <a:latin typeface="Rubik"/>
                <a:ea typeface="Rubik"/>
                <a:cs typeface="Rubik"/>
              </a:defRPr>
            </a:pPr>
            <a:r>
              <a:rPr sz="2100" b="0">
                <a:solidFill>
                  <a:srgbClr val="58616A"/>
                </a:solidFill>
                <a:latin typeface="Rubik"/>
                <a:ea typeface="Rubik"/>
                <a:cs typeface="Rubik"/>
              </a:rPr>
              <a:t>Ein AOSP-Kern für Android-Apps</a:t>
            </a:r>
          </a:p>
          <a:p xmlns:a="http://schemas.openxmlformats.org/drawingml/2006/main">
            <a:pPr>
              <a:lnSpc>
                <a:spcPct val="112000"/>
              </a:lnSpc>
              <a:buNone/>
              <a:defRPr sz="2100" b="0">
                <a:solidFill>
                  <a:srgbClr val="58616A"/>
                </a:solidFill>
                <a:latin typeface="Rubik"/>
                <a:ea typeface="Rubik"/>
                <a:cs typeface="Rubik"/>
              </a:defRPr>
            </a:pPr>
            <a:r>
              <a:rPr sz="2100" b="0">
                <a:solidFill>
                  <a:srgbClr val="58616A"/>
                </a:solidFill>
                <a:latin typeface="Rubik"/>
                <a:ea typeface="Rubik"/>
                <a:cs typeface="Rubik"/>
              </a:rPr>
              <a:t>und GNU/Linux-Werkzeuge.</a:t>
            </a:r>
          </a:p>
        </p:txBody>
      </p:sp>
      <p:sp>
        <p:nvSpPr>
          <p:cNvPr id="7" name="">
            <a:extLst xmlns:a="http://schemas.openxmlformats.org/drawingml/2006/main">
              <a:ext uri="{FF2B5EF4-FFF2-40B4-BE49-F238E27FC236}">
                <a16:creationId xmlns:a16="http://schemas.microsoft.com/office/drawing/2014/main" id="{5064E1CC-ED12-4029-8071-0E79DA2B87AE}"/>
              </a:ext>
            </a:extLst>
          </p:cNvPr>
          <p:cNvSpPr>
            <a:spLocks xmlns:a="http://schemas.openxmlformats.org/drawingml/2006/main" noGrp="1"/>
          </p:cNvSpPr>
          <p:nvPr/>
        </p:nvSpPr>
        <p:spPr>
          <a:xfrm xmlns:a="http://schemas.openxmlformats.org/drawingml/2006/main">
            <a:off x="647700" y="5572125"/>
            <a:ext cx="542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00" b="0">
                <a:solidFill>
                  <a:srgbClr val="161B22"/>
                </a:solidFill>
                <a:latin typeface="Rubik"/>
                <a:ea typeface="Rubik"/>
                <a:cs typeface="Rubik"/>
              </a:defRPr>
            </a:pPr>
            <a:r>
              <a:rPr sz="1800" b="0">
                <a:solidFill>
                  <a:srgbClr val="161B22"/>
                </a:solidFill>
                <a:latin typeface="Rubik"/>
                <a:ea typeface="Rubik"/>
                <a:cs typeface="Rubik"/>
              </a:rPr>
              <a:t>Oberflächen und Hardwareunterstützung</a:t>
            </a:r>
          </a:p>
          <a:p xmlns:a="http://schemas.openxmlformats.org/drawingml/2006/main">
            <a:pPr>
              <a:lnSpc>
                <a:spcPct val="113000"/>
              </a:lnSpc>
              <a:buNone/>
              <a:defRPr sz="1800" b="0">
                <a:solidFill>
                  <a:srgbClr val="161B22"/>
                </a:solidFill>
                <a:latin typeface="Rubik"/>
                <a:ea typeface="Rubik"/>
                <a:cs typeface="Rubik"/>
              </a:defRPr>
            </a:pPr>
            <a:r>
              <a:rPr sz="1800" b="0">
                <a:solidFill>
                  <a:srgbClr val="161B22"/>
                </a:solidFill>
                <a:latin typeface="Rubik"/>
                <a:ea typeface="Rubik"/>
                <a:cs typeface="Rubik"/>
              </a:rPr>
              <a:t>sind spätere Entwicklungsaufgaben.</a:t>
            </a:r>
          </a:p>
        </p:txBody>
      </p:sp>
      <p:sp>
        <p:nvSpPr>
          <p:cNvPr id="8" name="">
            <a:extLst xmlns:a="http://schemas.openxmlformats.org/drawingml/2006/main">
              <a:ext uri="{FF2B5EF4-FFF2-40B4-BE49-F238E27FC236}">
                <a16:creationId xmlns:a16="http://schemas.microsoft.com/office/drawing/2014/main" id="{DB7DA70A-4716-48A9-85DC-A758675B2089}"/>
              </a:ext>
            </a:extLst>
          </p:cNvPr>
          <p:cNvSpPr>
            <a:spLocks xmlns:a="http://schemas.openxmlformats.org/drawingml/2006/main" noGrp="1"/>
          </p:cNvSpPr>
          <p:nvPr/>
        </p:nvSpPr>
        <p:spPr>
          <a:xfrm xmlns:a="http://schemas.openxmlformats.org/drawingml/2006/main">
            <a:off x="7019925" y="4991100"/>
            <a:ext cx="45624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6675" b="1">
                <a:solidFill>
                  <a:srgbClr val="161B22"/>
                </a:solidFill>
                <a:latin typeface="Rubik"/>
                <a:ea typeface="Rubik"/>
                <a:cs typeface="Rubik"/>
              </a:defRPr>
            </a:pPr>
            <a:r>
              <a:rPr sz="6675" b="1">
                <a:solidFill>
                  <a:srgbClr val="161B22"/>
                </a:solidFill>
                <a:latin typeface="Rubik"/>
                <a:ea typeface="Rubik"/>
                <a:cs typeface="Rubik"/>
              </a:rPr>
              <a:t>ARM64</a:t>
            </a:r>
          </a:p>
        </p:txBody>
      </p:sp>
      <p:sp>
        <p:nvSpPr>
          <p:cNvPr id="9" name="">
            <a:extLst xmlns:a="http://schemas.openxmlformats.org/drawingml/2006/main">
              <a:ext uri="{FF2B5EF4-FFF2-40B4-BE49-F238E27FC236}">
                <a16:creationId xmlns:a16="http://schemas.microsoft.com/office/drawing/2014/main" id="{9FB2117A-0FFF-4579-B8FE-CFF0D7C6398B}"/>
              </a:ext>
            </a:extLst>
          </p:cNvPr>
          <p:cNvSpPr>
            <a:spLocks xmlns:a="http://schemas.openxmlformats.org/drawingml/2006/main" noGrp="1"/>
          </p:cNvSpPr>
          <p:nvPr/>
        </p:nvSpPr>
        <p:spPr>
          <a:xfrm xmlns:a="http://schemas.openxmlformats.org/drawingml/2006/main">
            <a:off x="7191375" y="6143625"/>
            <a:ext cx="366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161B22"/>
                </a:solidFill>
                <a:latin typeface="Rubik"/>
                <a:ea typeface="Rubik"/>
                <a:cs typeface="Rubik"/>
              </a:defRPr>
            </a:pPr>
            <a:r>
              <a:rPr sz="1575" b="0">
                <a:solidFill>
                  <a:srgbClr val="161B22"/>
                </a:solidFill>
                <a:latin typeface="Rubik"/>
                <a:ea typeface="Rubik"/>
                <a:cs typeface="Rubik"/>
              </a:rPr>
              <a:t>Langfristiges Hardwareziel</a:t>
            </a:r>
          </a:p>
        </p:txBody>
      </p:sp>
      <p:sp>
        <p:nvSpPr>
          <p:cNvPr id="10" name="">
            <a:extLst xmlns:a="http://schemas.openxmlformats.org/drawingml/2006/main">
              <a:ext uri="{FF2B5EF4-FFF2-40B4-BE49-F238E27FC236}">
                <a16:creationId xmlns:a16="http://schemas.microsoft.com/office/drawing/2014/main" id="{5C65B74E-52B2-4CD3-ADAE-83DF126C577E}"/>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07</a:t>
            </a:r>
          </a:p>
        </p:txBody>
      </p:sp>
    </p:spTree>
    <p:extLst>
      <p:ext uri="{BB962C8B-B14F-4D97-AF65-F5344CB8AC3E}">
        <p14:creationId xmlns:p14="http://schemas.microsoft.com/office/powerpoint/2010/main" val="653770621"/>
      </p:ext>
    </p:extLst>
  </p:cSld>
</p:sld>
</file>

<file path=ppt/slides/slide8.xml><?xml version="1.0" encoding="utf-8"?>
<p:sld xmlns:p="http://schemas.openxmlformats.org/presentationml/2006/main">
  <p:cSld>
    <p:bg>
      <p:bgPr>
        <a:solidFill xmlns:a="http://schemas.openxmlformats.org/drawingml/2006/main">
          <a:srgbClr val="16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C1996F-D40A-4E71-871B-AB8760F24392}"/>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F6F7F9"/>
                </a:solidFill>
                <a:latin typeface="Rubik"/>
                <a:ea typeface="Rubik"/>
                <a:cs typeface="Rubik"/>
              </a:defRPr>
            </a:pPr>
            <a:r>
              <a:rPr sz="1575" b="1">
                <a:solidFill>
                  <a:srgbClr val="F6F7F9"/>
                </a:solidFill>
                <a:latin typeface="Rubik"/>
                <a:ea typeface="Rubik"/>
                <a:cs typeface="Rubik"/>
              </a:rPr>
              <a:t>ægis.os</a:t>
            </a:r>
          </a:p>
        </p:txBody>
      </p:sp>
      <p:sp>
        <p:nvSpPr>
          <p:cNvPr id="2" name="">
            <a:extLst xmlns:a="http://schemas.openxmlformats.org/drawingml/2006/main">
              <a:ext uri="{FF2B5EF4-FFF2-40B4-BE49-F238E27FC236}">
                <a16:creationId xmlns:a16="http://schemas.microsoft.com/office/drawing/2014/main" id="{EF04F3B1-6E8D-43A4-9ABC-043C09C0194E}"/>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Für Entwickler und frühe Anwender</a:t>
            </a:r>
          </a:p>
        </p:txBody>
      </p:sp>
      <p:sp>
        <p:nvSpPr>
          <p:cNvPr id="3" name="">
            <a:extLst xmlns:a="http://schemas.openxmlformats.org/drawingml/2006/main">
              <a:ext uri="{FF2B5EF4-FFF2-40B4-BE49-F238E27FC236}">
                <a16:creationId xmlns:a16="http://schemas.microsoft.com/office/drawing/2014/main" id="{EBB8CCC5-5B60-4D84-B9A3-C55B47CD7FE6}"/>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08</a:t>
            </a:r>
          </a:p>
        </p:txBody>
      </p:sp>
      <p:sp>
        <p:nvSpPr>
          <p:cNvPr id="4" name="">
            <a:extLst xmlns:a="http://schemas.openxmlformats.org/drawingml/2006/main">
              <a:ext uri="{FF2B5EF4-FFF2-40B4-BE49-F238E27FC236}">
                <a16:creationId xmlns:a16="http://schemas.microsoft.com/office/drawing/2014/main" id="{0BD017A3-B10A-4C68-8EF7-D6900D96B442}"/>
              </a:ext>
            </a:extLst>
          </p:cNvPr>
          <p:cNvSpPr>
            <a:spLocks xmlns:a="http://schemas.openxmlformats.org/drawingml/2006/main" noGrp="1"/>
          </p:cNvSpPr>
          <p:nvPr/>
        </p:nvSpPr>
        <p:spPr>
          <a:xfrm xmlns:a="http://schemas.openxmlformats.org/drawingml/2006/main">
            <a:off x="609600" y="11620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725" b="1">
                <a:solidFill>
                  <a:srgbClr val="F6F7F9"/>
                </a:solidFill>
                <a:latin typeface="Rubik"/>
                <a:ea typeface="Rubik"/>
                <a:cs typeface="Rubik"/>
              </a:defRPr>
            </a:pPr>
            <a:r>
              <a:rPr sz="4725" b="1">
                <a:solidFill>
                  <a:srgbClr val="F6F7F9"/>
                </a:solidFill>
                <a:latin typeface="Rubik"/>
                <a:ea typeface="Rubik"/>
                <a:cs typeface="Rubik"/>
              </a:rPr>
              <a:t>Mitwirken an Aegis OS</a:t>
            </a:r>
          </a:p>
        </p:txBody>
      </p:sp>
      <p:sp>
        <p:nvSpPr>
          <p:cNvPr id="5" name="">
            <a:extLst xmlns:a="http://schemas.openxmlformats.org/drawingml/2006/main">
              <a:ext uri="{FF2B5EF4-FFF2-40B4-BE49-F238E27FC236}">
                <a16:creationId xmlns:a16="http://schemas.microsoft.com/office/drawing/2014/main" id="{D992270A-643D-4E31-8C8B-CD9A59E8B1AC}"/>
              </a:ext>
            </a:extLst>
          </p:cNvPr>
          <p:cNvSpPr>
            <a:spLocks xmlns:a="http://schemas.openxmlformats.org/drawingml/2006/main" noGrp="1"/>
          </p:cNvSpPr>
          <p:nvPr/>
        </p:nvSpPr>
        <p:spPr>
          <a:xfrm xmlns:a="http://schemas.openxmlformats.org/drawingml/2006/main">
            <a:off x="647700" y="2886075"/>
            <a:ext cx="56102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8000"/>
              </a:lnSpc>
              <a:buNone/>
              <a:defRPr sz="4050" b="1">
                <a:solidFill>
                  <a:srgbClr val="C4F15A"/>
                </a:solidFill>
                <a:latin typeface="Rubik"/>
                <a:ea typeface="Rubik"/>
                <a:cs typeface="Rubik"/>
              </a:defRPr>
            </a:pPr>
            <a:r>
              <a:rPr sz="4050" b="1">
                <a:solidFill>
                  <a:srgbClr val="C4F15A"/>
                </a:solidFill>
                <a:latin typeface="Rubik"/>
                <a:ea typeface="Rubik"/>
                <a:cs typeface="Rubik"/>
              </a:rPr>
              <a:t>Die Verbindung</a:t>
            </a:r>
          </a:p>
          <a:p xmlns:a="http://schemas.openxmlformats.org/drawingml/2006/main">
            <a:pPr>
              <a:lnSpc>
                <a:spcPct val="108000"/>
              </a:lnSpc>
              <a:buNone/>
              <a:defRPr sz="4050" b="1">
                <a:solidFill>
                  <a:srgbClr val="C4F15A"/>
                </a:solidFill>
                <a:latin typeface="Rubik"/>
                <a:ea typeface="Rubik"/>
                <a:cs typeface="Rubik"/>
              </a:defRPr>
            </a:pPr>
            <a:r>
              <a:rPr sz="4050" b="1">
                <a:solidFill>
                  <a:srgbClr val="C4F15A"/>
                </a:solidFill>
                <a:latin typeface="Rubik"/>
                <a:ea typeface="Rubik"/>
                <a:cs typeface="Rubik"/>
              </a:rPr>
              <a:t>entsteht im System.</a:t>
            </a:r>
          </a:p>
        </p:txBody>
      </p:sp>
      <p:sp>
        <p:nvSpPr>
          <p:cNvPr id="6" name="">
            <a:extLst xmlns:a="http://schemas.openxmlformats.org/drawingml/2006/main">
              <a:ext uri="{FF2B5EF4-FFF2-40B4-BE49-F238E27FC236}">
                <a16:creationId xmlns:a16="http://schemas.microsoft.com/office/drawing/2014/main" id="{9728D9FC-EA83-47B5-A4CB-F02A9188834F}"/>
              </a:ext>
            </a:extLst>
          </p:cNvPr>
          <p:cNvSpPr>
            <a:spLocks xmlns:a="http://schemas.openxmlformats.org/drawingml/2006/main" noGrp="1"/>
          </p:cNvSpPr>
          <p:nvPr/>
        </p:nvSpPr>
        <p:spPr>
          <a:xfrm xmlns:a="http://schemas.openxmlformats.org/drawingml/2006/main">
            <a:off x="647700" y="4857750"/>
            <a:ext cx="5381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Der nächste Meilenstein ist eine</a:t>
            </a:r>
          </a:p>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nachweisbar laufende GNU-Runtime</a:t>
            </a:r>
          </a:p>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innerhalb von AOSP.</a:t>
            </a:r>
          </a:p>
        </p:txBody>
      </p:sp>
      <p:sp>
        <p:nvSpPr>
          <p:cNvPr id="7" name="">
            <a:extLst xmlns:a="http://schemas.openxmlformats.org/drawingml/2006/main">
              <a:ext uri="{FF2B5EF4-FFF2-40B4-BE49-F238E27FC236}">
                <a16:creationId xmlns:a16="http://schemas.microsoft.com/office/drawing/2014/main" id="{6F56A4CF-8351-4802-A18E-B5B87B4C43B1}"/>
              </a:ext>
            </a:extLst>
          </p:cNvPr>
          <p:cNvSpPr>
            <a:spLocks xmlns:a="http://schemas.openxmlformats.org/drawingml/2006/main" noGrp="1"/>
          </p:cNvSpPr>
          <p:nvPr/>
        </p:nvSpPr>
        <p:spPr>
          <a:xfrm xmlns:a="http://schemas.openxmlformats.org/drawingml/2006/main">
            <a:off x="6924675" y="2790825"/>
            <a:ext cx="4657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F6F7F9"/>
                </a:solidFill>
                <a:latin typeface="Rubik"/>
                <a:ea typeface="Rubik"/>
                <a:cs typeface="Rubik"/>
              </a:defRPr>
            </a:pPr>
            <a:r>
              <a:rPr sz="2325" b="1">
                <a:solidFill>
                  <a:srgbClr val="F6F7F9"/>
                </a:solidFill>
                <a:latin typeface="Rubik"/>
                <a:ea typeface="Rubik"/>
                <a:cs typeface="Rubik"/>
              </a:rPr>
              <a:t>AOSP und Kernel</a:t>
            </a:r>
          </a:p>
        </p:txBody>
      </p:sp>
      <p:sp>
        <p:nvSpPr>
          <p:cNvPr id="8" name="">
            <a:extLst xmlns:a="http://schemas.openxmlformats.org/drawingml/2006/main">
              <a:ext uri="{FF2B5EF4-FFF2-40B4-BE49-F238E27FC236}">
                <a16:creationId xmlns:a16="http://schemas.microsoft.com/office/drawing/2014/main" id="{CED04168-2BCA-4073-9B18-54F97AC91DD8}"/>
              </a:ext>
            </a:extLst>
          </p:cNvPr>
          <p:cNvSpPr>
            <a:spLocks xmlns:a="http://schemas.openxmlformats.org/drawingml/2006/main" noGrp="1"/>
          </p:cNvSpPr>
          <p:nvPr/>
        </p:nvSpPr>
        <p:spPr>
          <a:xfrm xmlns:a="http://schemas.openxmlformats.org/drawingml/2006/main">
            <a:off x="6924675" y="3286125"/>
            <a:ext cx="4657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Produktintegration, Namespaces</a:t>
            </a:r>
          </a:p>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und Sicherheitsrichtlinien.</a:t>
            </a:r>
          </a:p>
        </p:txBody>
      </p:sp>
      <p:sp>
        <p:nvSpPr>
          <p:cNvPr id="9" name="">
            <a:extLst xmlns:a="http://schemas.openxmlformats.org/drawingml/2006/main">
              <a:ext uri="{FF2B5EF4-FFF2-40B4-BE49-F238E27FC236}">
                <a16:creationId xmlns:a16="http://schemas.microsoft.com/office/drawing/2014/main" id="{37B8F68B-B38C-42F3-859C-406046E2E2E8}"/>
              </a:ext>
            </a:extLst>
          </p:cNvPr>
          <p:cNvSpPr>
            <a:spLocks xmlns:a="http://schemas.openxmlformats.org/drawingml/2006/main" noGrp="1"/>
          </p:cNvSpPr>
          <p:nvPr/>
        </p:nvSpPr>
        <p:spPr>
          <a:xfrm xmlns:a="http://schemas.openxmlformats.org/drawingml/2006/main">
            <a:off x="6924675" y="4314825"/>
            <a:ext cx="4657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F6F7F9"/>
                </a:solidFill>
                <a:latin typeface="Rubik"/>
                <a:ea typeface="Rubik"/>
                <a:cs typeface="Rubik"/>
              </a:defRPr>
            </a:pPr>
            <a:r>
              <a:rPr sz="2325" b="1">
                <a:solidFill>
                  <a:srgbClr val="F6F7F9"/>
                </a:solidFill>
                <a:latin typeface="Rubik"/>
                <a:ea typeface="Rubik"/>
                <a:cs typeface="Rubik"/>
              </a:rPr>
              <a:t>GNU/Linux und Pakete</a:t>
            </a:r>
          </a:p>
        </p:txBody>
      </p:sp>
      <p:sp>
        <p:nvSpPr>
          <p:cNvPr id="10" name="">
            <a:extLst xmlns:a="http://schemas.openxmlformats.org/drawingml/2006/main">
              <a:ext uri="{FF2B5EF4-FFF2-40B4-BE49-F238E27FC236}">
                <a16:creationId xmlns:a16="http://schemas.microsoft.com/office/drawing/2014/main" id="{C27EDF1E-CE95-4D2F-9B90-11CFD43E146E}"/>
              </a:ext>
            </a:extLst>
          </p:cNvPr>
          <p:cNvSpPr>
            <a:spLocks xmlns:a="http://schemas.openxmlformats.org/drawingml/2006/main" noGrp="1"/>
          </p:cNvSpPr>
          <p:nvPr/>
        </p:nvSpPr>
        <p:spPr>
          <a:xfrm xmlns:a="http://schemas.openxmlformats.org/drawingml/2006/main">
            <a:off x="6924675" y="4810125"/>
            <a:ext cx="46577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Runtime-Lebenszyklus, Paketkonsistenz</a:t>
            </a:r>
          </a:p>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und reproduzierbare Systemtests.</a:t>
            </a:r>
          </a:p>
        </p:txBody>
      </p:sp>
      <p:sp>
        <p:nvSpPr>
          <p:cNvPr id="11" name="">
            <a:extLst xmlns:a="http://schemas.openxmlformats.org/drawingml/2006/main">
              <a:ext uri="{FF2B5EF4-FFF2-40B4-BE49-F238E27FC236}">
                <a16:creationId xmlns:a16="http://schemas.microsoft.com/office/drawing/2014/main" id="{37209C83-03A5-476B-9321-D7B6D1A76CAE}"/>
              </a:ext>
            </a:extLst>
          </p:cNvPr>
          <p:cNvSpPr>
            <a:spLocks xmlns:a="http://schemas.openxmlformats.org/drawingml/2006/main" noGrp="1"/>
          </p:cNvSpPr>
          <p:nvPr/>
        </p:nvSpPr>
        <p:spPr>
          <a:xfrm xmlns:a="http://schemas.openxmlformats.org/drawingml/2006/main">
            <a:off x="6924675" y="6010275"/>
            <a:ext cx="4657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C4F15A"/>
                </a:solidFill>
                <a:latin typeface="Rubik"/>
                <a:ea typeface="Rubik"/>
                <a:cs typeface="Rubik"/>
              </a:defRPr>
            </a:pPr>
            <a:r>
              <a:rPr sz="1725" b="1">
                <a:solidFill>
                  <a:srgbClr val="C4F15A"/>
                </a:solidFill>
                <a:latin typeface="Rubik"/>
                <a:ea typeface="Rubik"/>
                <a:cs typeface="Rubik"/>
                <a:hlinkClick xmlns:r="http://schemas.openxmlformats.org/officeDocument/2006/relationships" r:id="R0104e9a70e594ca7"/>
              </a:rPr>
              <a:t>github.com/simgero/AegisOS</a:t>
            </a:r>
          </a:p>
        </p:txBody>
      </p:sp>
    </p:spTree>
    <p:extLst>
      <p:ext uri="{BB962C8B-B14F-4D97-AF65-F5344CB8AC3E}">
        <p14:creationId xmlns:p14="http://schemas.microsoft.com/office/powerpoint/2010/main" val="20230753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2026-09-28T11:26:08.6110000Z</dcterms:created>
  <dcterms:modified xsi:type="dcterms:W3CDTF">2026-09-28T11:26:08.6110000Z</dcterms:modified>
</coreProperties>
</file>